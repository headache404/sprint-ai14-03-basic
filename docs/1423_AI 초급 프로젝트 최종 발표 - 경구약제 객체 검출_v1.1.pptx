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81" r:id="rId3"/>
    <p:sldId id="258" r:id="rId4"/>
    <p:sldId id="259" r:id="rId5"/>
    <p:sldId id="280" r:id="rId6"/>
    <p:sldId id="257" r:id="rId7"/>
    <p:sldId id="282" r:id="rId8"/>
    <p:sldId id="263" r:id="rId9"/>
    <p:sldId id="274" r:id="rId10"/>
    <p:sldId id="275" r:id="rId11"/>
    <p:sldId id="264" r:id="rId12"/>
    <p:sldId id="276" r:id="rId13"/>
    <p:sldId id="277" r:id="rId14"/>
    <p:sldId id="279" r:id="rId15"/>
    <p:sldId id="265" r:id="rId16"/>
    <p:sldId id="266" r:id="rId17"/>
    <p:sldId id="272" r:id="rId18"/>
    <p:sldId id="278" r:id="rId19"/>
    <p:sldId id="268" r:id="rId20"/>
  </p:sldIdLst>
  <p:sldSz cx="12192000" cy="6858000"/>
  <p:notesSz cx="6858000" cy="9144000"/>
  <p:embeddedFontLst>
    <p:embeddedFont>
      <p:font typeface="Noto Sans KR" panose="020B0200000000000000" pitchFamily="50" charset="-127"/>
      <p:regular r:id="rId22"/>
      <p:bold r:id="rId23"/>
    </p:embeddedFont>
    <p:embeddedFont>
      <p:font typeface="Roboto Mono" panose="00000009000000000000" pitchFamily="49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1176D2-A62D-412C-88D4-E07ADD69E8C3}">
  <a:tblStyle styleId="{E51176D2-A62D-412C-88D4-E07ADD69E8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6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3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HUB </a:t>
            </a:r>
            <a:r>
              <a:rPr lang="ko-KR" altLang="en-US" sz="13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적용 전 </a:t>
            </a:r>
            <a:r>
              <a:rPr lang="en-US" altLang="ko-KR" sz="13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vs </a:t>
            </a:r>
            <a:r>
              <a:rPr lang="ko-KR" altLang="en-US" sz="13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yolo11n</c:v>
                </c:pt>
              </c:strCache>
            </c:strRef>
          </c:tx>
          <c:spPr>
            <a:solidFill>
              <a:srgbClr val="2878D8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적용 전 (+0.01627)</c:v>
                </c:pt>
                <c:pt idx="1">
                  <c:v>적용 후 (-0.00033)</c:v>
                </c:pt>
              </c:strCache>
            </c:strRef>
          </c:cat>
          <c:val>
            <c:numRef>
              <c:f>Sheet1!$B$2:$B$3</c:f>
              <c:numCache>
                <c:formatCode>0.000</c:formatCode>
                <c:ptCount val="2"/>
                <c:pt idx="0">
                  <c:v>0.40506999999999999</c:v>
                </c:pt>
                <c:pt idx="1">
                  <c:v>0.61382999999999999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3DC-46FC-BB1A-D3B02356B5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yolo11l</c:v>
                </c:pt>
              </c:strCache>
            </c:strRef>
          </c:tx>
          <c:spPr>
            <a:solidFill>
              <a:srgbClr val="93B8E8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적용 전 (+0.01627)</c:v>
                </c:pt>
                <c:pt idx="1">
                  <c:v>적용 후 (-0.00033)</c:v>
                </c:pt>
              </c:strCache>
            </c:strRef>
          </c:cat>
          <c:val>
            <c:numRef>
              <c:f>Sheet1!$C$2:$C$3</c:f>
              <c:numCache>
                <c:formatCode>0.000</c:formatCode>
                <c:ptCount val="2"/>
                <c:pt idx="0">
                  <c:v>0.42133999999999999</c:v>
                </c:pt>
                <c:pt idx="1">
                  <c:v>0.61350000000000005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3DC-46FC-BB1A-D3B02356B56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100">
                <a:latin typeface="Noto Sans KR" panose="020B0200000000000000" pitchFamily="50" charset="-127"/>
                <a:ea typeface="Noto Sans KR" panose="020B0200000000000000" pitchFamily="50" charset="-127"/>
                <a:cs typeface="Nirmala UI Semilight" panose="020B0402040204020203" pitchFamily="34" charset="0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7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Noto Sans KR" panose="020B0200000000000000" pitchFamily="50" charset="-127"/>
              <a:ea typeface="Noto Sans KR" panose="020B0200000000000000" pitchFamily="50" charset="-127"/>
              <a:cs typeface="Nirmala UI" panose="020B0502040204020203" pitchFamily="34" charset="0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334155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sz="13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Kaggle Score </a:t>
            </a:r>
            <a:r>
              <a:rPr lang="ko-KR" altLang="en-US" sz="13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변화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Kaggle Score</c:v>
                </c:pt>
              </c:strCache>
            </c:strRef>
          </c:tx>
          <c:spPr>
            <a:solidFill>
              <a:srgbClr val="93B8E8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2878D8"/>
              </a:solidFill>
            </c:spPr>
            <c:extLst>
              <c:ext xmlns:c16="http://schemas.microsoft.com/office/drawing/2014/chart" uri="{C3380CC4-5D6E-409C-BE32-E72D297353CC}">
                <c16:uniqueId val="{00000001-EEC9-4557-BF9E-DB5593268C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yolov8n
베이스라인</c:v>
                </c:pt>
                <c:pt idx="1">
                  <c:v>yolo11l
실험 1 최고</c:v>
                </c:pt>
                <c:pt idx="2">
                  <c:v>yolo11n
+AI HUB</c:v>
                </c:pt>
                <c:pt idx="3">
                  <c:v>yolo11n
+전처리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0.39850000000000002</c:v>
                </c:pt>
                <c:pt idx="1">
                  <c:v>0.42133999999999999</c:v>
                </c:pt>
                <c:pt idx="2">
                  <c:v>0.44600000000000001</c:v>
                </c:pt>
                <c:pt idx="3">
                  <c:v>0.61382999999999999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EC9-4557-BF9E-DB5593268C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latin typeface="Noto Sans KR" panose="020B0200000000000000" pitchFamily="50" charset="-127"/>
                <a:ea typeface="Noto Sans KR" panose="020B0200000000000000" pitchFamily="50" charset="-127"/>
                <a:cs typeface="Nirmala UI Semilight" panose="020B0402040204020203" pitchFamily="34" charset="0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7"/>
          <c:min val="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334155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0a12c4530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40a12c4530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0a12c45300_1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40a12c45300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0a12c45300_1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40a12c45300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40a12c45300_1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40a12c45300_1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618ad19f7dab174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23" name="Google Shape;223;h618ad19f7dab174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221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09600" y="4747170"/>
            <a:ext cx="762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1444079"/>
            <a:ext cx="1158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en-US" sz="1800" b="1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초급</a:t>
            </a:r>
            <a:r>
              <a:rPr lang="en-US" sz="180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r>
              <a:rPr lang="en-US" sz="180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최종</a:t>
            </a:r>
            <a:r>
              <a:rPr lang="en-US" sz="180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발표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1977479"/>
            <a:ext cx="10101262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경구약제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객체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검출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자동화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92802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최적의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AI Detection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선정을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통한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정밀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검수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프로세스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구축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5109120"/>
            <a:ext cx="1158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팀 1423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5486070"/>
            <a:ext cx="1158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서동현</a:t>
            </a:r>
            <a:r>
              <a:rPr lang="en-US" sz="1800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800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김주희</a:t>
            </a:r>
            <a:r>
              <a:rPr lang="en-US" sz="1800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800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조영권</a:t>
            </a:r>
            <a:r>
              <a:rPr lang="en-US" sz="1800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800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이석우</a:t>
            </a:r>
            <a:r>
              <a:rPr lang="en-US" sz="1800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800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김원태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CFF418F7-8E0C-32A4-19D5-9F7DF57E426D}"/>
              </a:ext>
            </a:extLst>
          </p:cNvPr>
          <p:cNvSpPr/>
          <p:nvPr/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목차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A1E909B-AE40-9D63-D288-9E0C817B9BDC}"/>
              </a:ext>
            </a:extLst>
          </p:cNvPr>
          <p:cNvSpPr/>
          <p:nvPr/>
        </p:nvSpPr>
        <p:spPr>
          <a:xfrm>
            <a:off x="812800" y="2124670"/>
            <a:ext cx="490220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BE9E1704-96D4-52DD-5819-6D8C88B29132}"/>
              </a:ext>
            </a:extLst>
          </p:cNvPr>
          <p:cNvSpPr/>
          <p:nvPr/>
        </p:nvSpPr>
        <p:spPr>
          <a:xfrm>
            <a:off x="812800" y="1828800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Ⅰ. 프로젝트 개요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6ED5D8-B12F-64A4-7C47-1C0BF42B75F0}"/>
              </a:ext>
            </a:extLst>
          </p:cNvPr>
          <p:cNvSpPr/>
          <p:nvPr/>
        </p:nvSpPr>
        <p:spPr>
          <a:xfrm>
            <a:off x="812800" y="2219920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01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도입 배경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DC56A1A-7A1A-3380-87E5-727D055284F3}"/>
              </a:ext>
            </a:extLst>
          </p:cNvPr>
          <p:cNvSpPr/>
          <p:nvPr/>
        </p:nvSpPr>
        <p:spPr>
          <a:xfrm>
            <a:off x="812800" y="2593280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02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프로젝트 목적 및 목표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8383B5B8-10DA-4B66-E030-5DAC7D0B1753}"/>
              </a:ext>
            </a:extLst>
          </p:cNvPr>
          <p:cNvSpPr/>
          <p:nvPr/>
        </p:nvSpPr>
        <p:spPr>
          <a:xfrm>
            <a:off x="812800" y="2966641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03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팀 구성 및 역할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819AE0BC-1292-83B5-6491-69B42169F016}"/>
              </a:ext>
            </a:extLst>
          </p:cNvPr>
          <p:cNvSpPr/>
          <p:nvPr/>
        </p:nvSpPr>
        <p:spPr>
          <a:xfrm>
            <a:off x="812800" y="3877171"/>
            <a:ext cx="490220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505866A-F51C-B79F-40F0-7A5DD4C73464}"/>
              </a:ext>
            </a:extLst>
          </p:cNvPr>
          <p:cNvSpPr/>
          <p:nvPr/>
        </p:nvSpPr>
        <p:spPr>
          <a:xfrm>
            <a:off x="812800" y="3581301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Ⅱ. 개발 과정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AC4287DD-01C2-737C-A083-325970494807}"/>
              </a:ext>
            </a:extLst>
          </p:cNvPr>
          <p:cNvSpPr/>
          <p:nvPr/>
        </p:nvSpPr>
        <p:spPr>
          <a:xfrm>
            <a:off x="812800" y="3972421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04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개발 환경 및 아키텍처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DA221EE-0316-F0F9-650A-07E94282DCAA}"/>
              </a:ext>
            </a:extLst>
          </p:cNvPr>
          <p:cNvSpPr/>
          <p:nvPr/>
        </p:nvSpPr>
        <p:spPr>
          <a:xfrm>
            <a:off x="812800" y="4345781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05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데이터셋 및 전처리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75E1009D-3D0B-8267-C488-E3DBBAACAF29}"/>
              </a:ext>
            </a:extLst>
          </p:cNvPr>
          <p:cNvSpPr/>
          <p:nvPr/>
        </p:nvSpPr>
        <p:spPr>
          <a:xfrm>
            <a:off x="812800" y="4719141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06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모델 학습 및 평가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F6DA7CFE-C88F-9244-3EE1-21713AAE6073}"/>
              </a:ext>
            </a:extLst>
          </p:cNvPr>
          <p:cNvSpPr/>
          <p:nvPr/>
        </p:nvSpPr>
        <p:spPr>
          <a:xfrm>
            <a:off x="6477000" y="2124670"/>
            <a:ext cx="490220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C7D4213E-6374-7522-6A0D-75F848607D3F}"/>
              </a:ext>
            </a:extLst>
          </p:cNvPr>
          <p:cNvSpPr/>
          <p:nvPr/>
        </p:nvSpPr>
        <p:spPr>
          <a:xfrm>
            <a:off x="6477000" y="1828800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Ⅲ. 실험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CCD3D28B-0D4E-CEEB-4FD9-53496DFCB02F}"/>
              </a:ext>
            </a:extLst>
          </p:cNvPr>
          <p:cNvSpPr/>
          <p:nvPr/>
        </p:nvSpPr>
        <p:spPr>
          <a:xfrm>
            <a:off x="6477000" y="2219920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07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실험 1 · YOLO 버전·크기별 성능 비교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0CFD8DDE-49F3-290D-1446-43C6D6F95393}"/>
              </a:ext>
            </a:extLst>
          </p:cNvPr>
          <p:cNvSpPr/>
          <p:nvPr/>
        </p:nvSpPr>
        <p:spPr>
          <a:xfrm>
            <a:off x="6477000" y="2593280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08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실험 2 · AI Hub 데이터 확보 및 전처리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338DB742-636E-1D13-9F54-183F44753B81}"/>
              </a:ext>
            </a:extLst>
          </p:cNvPr>
          <p:cNvSpPr/>
          <p:nvPr/>
        </p:nvSpPr>
        <p:spPr>
          <a:xfrm>
            <a:off x="6477000" y="2966641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09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실험 3 · YOLO 모델 크기 변경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3CC022FF-4208-02C7-5267-5705749CA442}"/>
              </a:ext>
            </a:extLst>
          </p:cNvPr>
          <p:cNvSpPr/>
          <p:nvPr/>
        </p:nvSpPr>
        <p:spPr>
          <a:xfrm>
            <a:off x="6477000" y="3340001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10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실험 4 · YOLO11 vs Faster R-CNN 비교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75F83C46-7303-9616-928C-32D602491A55}"/>
              </a:ext>
            </a:extLst>
          </p:cNvPr>
          <p:cNvSpPr/>
          <p:nvPr/>
        </p:nvSpPr>
        <p:spPr>
          <a:xfrm>
            <a:off x="6477000" y="4250531"/>
            <a:ext cx="490220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1CFF5375-BC3F-4550-279A-FD9C6B4D331A}"/>
              </a:ext>
            </a:extLst>
          </p:cNvPr>
          <p:cNvSpPr/>
          <p:nvPr/>
        </p:nvSpPr>
        <p:spPr>
          <a:xfrm>
            <a:off x="6477000" y="3954661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Ⅳ. 마무리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F9471546-E3A6-C416-E065-657E9808A650}"/>
              </a:ext>
            </a:extLst>
          </p:cNvPr>
          <p:cNvSpPr/>
          <p:nvPr/>
        </p:nvSpPr>
        <p:spPr>
          <a:xfrm>
            <a:off x="6477000" y="4345781"/>
            <a:ext cx="50492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11</a:t>
            </a:r>
            <a:r>
              <a:rPr lang="en-US" sz="16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   결론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8602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762000" y="2496075"/>
            <a:ext cx="3352800" cy="16791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19600" y="2496075"/>
            <a:ext cx="3352800" cy="16791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8077200" y="2496075"/>
            <a:ext cx="3352800" cy="16791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810878"/>
            <a:ext cx="355699" cy="31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2810878"/>
            <a:ext cx="355699" cy="31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8200" y="2810878"/>
            <a:ext cx="355699" cy="31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61125" y="2031950"/>
            <a:ext cx="1143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수작업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검수의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한계</a:t>
            </a:r>
            <a:endParaRPr sz="20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1143000" y="3283083"/>
            <a:ext cx="340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육안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식별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피로도</a:t>
            </a:r>
            <a:endParaRPr sz="20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1143000" y="3676587"/>
            <a:ext cx="323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미세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각인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판별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지연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2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4800600" y="3283083"/>
            <a:ext cx="340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조제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오류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위험</a:t>
            </a:r>
            <a:endParaRPr sz="2000" dirty="0"/>
          </a:p>
        </p:txBody>
      </p:sp>
      <p:sp>
        <p:nvSpPr>
          <p:cNvPr id="121" name="Google Shape;121;p15"/>
          <p:cNvSpPr/>
          <p:nvPr/>
        </p:nvSpPr>
        <p:spPr>
          <a:xfrm>
            <a:off x="6412500" y="4881650"/>
            <a:ext cx="5017500" cy="16791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800600" y="3676587"/>
            <a:ext cx="323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유사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형태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색상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혼동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200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8458200" y="3283083"/>
            <a:ext cx="340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환자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안전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직결</a:t>
            </a:r>
            <a:endParaRPr sz="2000"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8458200" y="3676587"/>
            <a:ext cx="323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미세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식별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오류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불허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200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914400" y="914400"/>
            <a:ext cx="11430000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3000" b="1" dirty="0" err="1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/>
                <a:sym typeface="Montserrat"/>
              </a:rPr>
              <a:t>도입</a:t>
            </a:r>
            <a:r>
              <a:rPr lang="en-US" sz="3000" b="1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/>
                <a:sym typeface="Montserrat"/>
              </a:rPr>
              <a:t> </a:t>
            </a:r>
            <a:r>
              <a:rPr lang="en-US" sz="3000" b="1" dirty="0" err="1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/>
                <a:sym typeface="Montserrat"/>
              </a:rPr>
              <a:t>배경</a:t>
            </a:r>
            <a:endParaRPr sz="3000" b="1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ontserrat"/>
              <a:sym typeface="Montserrat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61125" y="4534200"/>
            <a:ext cx="1143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0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Solution</a:t>
            </a:r>
            <a:endParaRPr sz="2000" dirty="0"/>
          </a:p>
        </p:txBody>
      </p:sp>
      <p:sp>
        <p:nvSpPr>
          <p:cNvPr id="127" name="Google Shape;127;p15"/>
          <p:cNvSpPr/>
          <p:nvPr/>
        </p:nvSpPr>
        <p:spPr>
          <a:xfrm>
            <a:off x="762000" y="4951625"/>
            <a:ext cx="5017500" cy="16791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143000" y="5295158"/>
            <a:ext cx="340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AI기반</a:t>
            </a:r>
            <a:r>
              <a:rPr lang="en-US" sz="20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객체</a:t>
            </a:r>
            <a:r>
              <a:rPr lang="en-US" sz="20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인식</a:t>
            </a:r>
            <a:endParaRPr sz="2000"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1143000" y="5688650"/>
            <a:ext cx="433050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딥러닝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객체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탐지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(Object Detection) Yolo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모델을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활용하여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사진만으로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약제의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명칭과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정보를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즉각적으로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식별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.</a:t>
            </a:r>
            <a:endParaRPr sz="1200" dirty="0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Inter"/>
              <a:sym typeface="Inte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4748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KR"/>
              <a:sym typeface="Noto Sans KR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727425" y="5698775"/>
            <a:ext cx="453259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대량의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약제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데이터를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학습하여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높은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정확도와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속도를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갖춘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자동</a:t>
            </a:r>
            <a:r>
              <a:rPr lang="en-US" sz="120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식별</a:t>
            </a: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779850" y="5295158"/>
            <a:ext cx="340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자동화</a:t>
            </a:r>
            <a:r>
              <a:rPr lang="en-US" sz="20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62000" y="1010691"/>
            <a:ext cx="6667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r>
              <a:rPr lang="en-US" sz="1500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50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솔루션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1420266"/>
            <a:ext cx="5700712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고정밀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AI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자동화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도입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3066008"/>
            <a:ext cx="70008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미탐지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제로화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3504158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재현율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99%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달성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4094708"/>
            <a:ext cx="70008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높은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검출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정밀도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4532858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mAP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40%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달성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5123408"/>
            <a:ext cx="70008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최적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발굴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5561558"/>
            <a:ext cx="66675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추론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효율성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밸런스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YOLO  vs Faster R-CNN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dirty="0">
                <a:solidFill>
                  <a:srgbClr val="0F172A"/>
                </a:solidFill>
                <a:latin typeface="Noto Sans KR"/>
              </a:rPr>
              <a:t>팀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구성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및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역할</a:t>
            </a:r>
            <a:endParaRPr sz="36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5819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 err="1">
                <a:solidFill>
                  <a:srgbClr val="1F497D"/>
                </a:solidFill>
                <a:latin typeface="Noto Sans KR"/>
              </a:rPr>
              <a:t>팀원별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담당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역할과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주요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업무</a:t>
            </a:r>
            <a:endParaRPr sz="1800" b="1" dirty="0">
              <a:solidFill>
                <a:srgbClr val="1F497D"/>
              </a:solidFill>
              <a:latin typeface="Noto Sans K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88915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t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470355" y="2606039"/>
            <a:ext cx="777240" cy="777240"/>
          </a:xfrm>
          <a:prstGeom prst="ellipse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39"/>
            <a:ext cx="188915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dirty="0" err="1">
                <a:solidFill>
                  <a:srgbClr val="0F172A"/>
                </a:solidFill>
                <a:latin typeface="Noto Sans KR"/>
              </a:rPr>
              <a:t>서동현</a:t>
            </a:r>
            <a:endParaRPr sz="2000" b="1" dirty="0">
              <a:solidFill>
                <a:srgbClr val="0F172A"/>
              </a:solidFill>
              <a:latin typeface="Noto Sans KR"/>
            </a:endParaRPr>
          </a:p>
          <a:p>
            <a:pPr algn="ctr"/>
            <a:r>
              <a:rPr sz="1200" b="1" dirty="0">
                <a:solidFill>
                  <a:srgbClr val="2878D8"/>
                </a:solidFill>
                <a:latin typeface="Noto Sans KR"/>
              </a:rPr>
              <a:t>Project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" y="4526279"/>
            <a:ext cx="1633118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bIns="91440" rtlCol="0" anchor="t"/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sz="1150" b="0" dirty="0" err="1">
                <a:solidFill>
                  <a:srgbClr val="334155"/>
                </a:solidFill>
                <a:latin typeface="Noto Sans KR"/>
              </a:rPr>
              <a:t>프로젝트의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협업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과정을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매니징</a:t>
            </a:r>
            <a:endParaRPr sz="1150" b="0" dirty="0">
              <a:solidFill>
                <a:srgbClr val="334155"/>
              </a:solidFill>
              <a:latin typeface="Noto Sans KR"/>
            </a:endParaRPr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sz="1150" b="0" dirty="0" err="1">
                <a:solidFill>
                  <a:srgbClr val="334155"/>
                </a:solidFill>
                <a:latin typeface="Noto Sans KR"/>
              </a:rPr>
              <a:t>애자일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/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스프린트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방식으로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단위를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분리하고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회의를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주도</a:t>
            </a:r>
            <a:endParaRPr sz="1150" b="0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32150" y="2331720"/>
            <a:ext cx="188915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t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88105" y="2606039"/>
            <a:ext cx="777240" cy="777240"/>
          </a:xfrm>
          <a:prstGeom prst="ellipse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2150" y="3520439"/>
            <a:ext cx="188915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Noto Sans KR"/>
              </a:rPr>
              <a:t>김주희</a:t>
            </a:r>
          </a:p>
          <a:p>
            <a:pPr algn="ctr"/>
            <a:r>
              <a:rPr sz="1200" b="1">
                <a:solidFill>
                  <a:srgbClr val="2878D8"/>
                </a:solidFill>
                <a:latin typeface="Noto Sans KR"/>
              </a:rPr>
              <a:t>Data Engineer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60166" y="4526279"/>
            <a:ext cx="1633118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bIns="91440" rtlCol="0" anchor="t"/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sz="1150" b="0">
                <a:solidFill>
                  <a:srgbClr val="334155"/>
                </a:solidFill>
                <a:latin typeface="Noto Sans KR"/>
              </a:rPr>
              <a:t>데이터 수집, 정제 및 전처리 담당</a:t>
            </a:r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sz="1150" b="0">
                <a:solidFill>
                  <a:srgbClr val="334155"/>
                </a:solidFill>
                <a:latin typeface="Noto Sans KR"/>
              </a:rPr>
              <a:t>데이터 파이프라인 구축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9900" y="2331720"/>
            <a:ext cx="188915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t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05855" y="2606039"/>
            <a:ext cx="777240" cy="777240"/>
          </a:xfrm>
          <a:prstGeom prst="ellipse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9900" y="3520439"/>
            <a:ext cx="188915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Noto Sans KR"/>
              </a:rPr>
              <a:t>조영권</a:t>
            </a:r>
          </a:p>
          <a:p>
            <a:pPr algn="ctr"/>
            <a:r>
              <a:rPr sz="1200" b="1">
                <a:solidFill>
                  <a:srgbClr val="2878D8"/>
                </a:solidFill>
                <a:latin typeface="Noto Sans KR"/>
              </a:rPr>
              <a:t>Model Architect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77916" y="4526279"/>
            <a:ext cx="1633118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bIns="91440" rtlCol="0" anchor="t"/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sz="1150" b="0">
                <a:solidFill>
                  <a:srgbClr val="334155"/>
                </a:solidFill>
                <a:latin typeface="Noto Sans KR"/>
              </a:rPr>
              <a:t>딥러닝 모델 설계</a:t>
            </a:r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sz="1150" b="0">
                <a:solidFill>
                  <a:srgbClr val="334155"/>
                </a:solidFill>
                <a:latin typeface="Noto Sans KR"/>
              </a:rPr>
              <a:t>모델 아키텍처 결정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7651" y="2331720"/>
            <a:ext cx="188915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t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23606" y="2606039"/>
            <a:ext cx="777240" cy="777240"/>
          </a:xfrm>
          <a:prstGeom prst="ellipse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651" y="3520439"/>
            <a:ext cx="188915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Noto Sans KR"/>
              </a:rPr>
              <a:t>김원태</a:t>
            </a:r>
          </a:p>
          <a:p>
            <a:pPr algn="ctr"/>
            <a:r>
              <a:rPr sz="1200" b="1">
                <a:solidFill>
                  <a:srgbClr val="2878D8"/>
                </a:solidFill>
                <a:latin typeface="Noto Sans KR"/>
              </a:rPr>
              <a:t>Experimentation Lead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5667" y="4526279"/>
            <a:ext cx="1633118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bIns="91440" rtlCol="0" anchor="t"/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sz="1150" b="0">
                <a:solidFill>
                  <a:srgbClr val="334155"/>
                </a:solidFill>
                <a:latin typeface="Noto Sans KR"/>
              </a:rPr>
              <a:t>다양한 실험 주도</a:t>
            </a:r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sz="1150" b="0">
                <a:solidFill>
                  <a:srgbClr val="334155"/>
                </a:solidFill>
                <a:latin typeface="Noto Sans KR"/>
              </a:rPr>
              <a:t>하이퍼파라미터 튜닝 및 모델 성능 평가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5401" y="2331720"/>
            <a:ext cx="188915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91440" rtlCol="0" anchor="t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941356" y="2606039"/>
            <a:ext cx="777240" cy="777240"/>
          </a:xfrm>
          <a:prstGeom prst="ellipse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5401" y="3520439"/>
            <a:ext cx="188915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Noto Sans KR"/>
              </a:rPr>
              <a:t>이석우</a:t>
            </a:r>
          </a:p>
          <a:p>
            <a:pPr algn="ctr"/>
            <a:r>
              <a:rPr sz="1200" b="1">
                <a:solidFill>
                  <a:srgbClr val="2878D8"/>
                </a:solidFill>
                <a:latin typeface="Noto Sans KR"/>
              </a:rPr>
              <a:t>Experimentation Lead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13417" y="4526279"/>
            <a:ext cx="1633118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bIns="91440" rtlCol="0" anchor="t"/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sz="1150" b="0">
                <a:solidFill>
                  <a:srgbClr val="334155"/>
                </a:solidFill>
                <a:latin typeface="Noto Sans KR"/>
              </a:rPr>
              <a:t>다양한 실험 주도</a:t>
            </a:r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sz="1150" b="0">
                <a:solidFill>
                  <a:srgbClr val="334155"/>
                </a:solidFill>
                <a:latin typeface="Noto Sans KR"/>
              </a:rPr>
              <a:t>하이퍼파라미터 튜닝 및 모델 성능 평가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 err="1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개발</a:t>
            </a:r>
            <a:r>
              <a:rPr lang="en-US" sz="3600" b="1" dirty="0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</a:t>
            </a:r>
            <a:r>
              <a:rPr lang="en-US" sz="3600" b="1" dirty="0" err="1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환경</a:t>
            </a:r>
            <a:r>
              <a:rPr lang="en-US" sz="3600" b="1" dirty="0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및 </a:t>
            </a:r>
            <a:r>
              <a:rPr lang="en-US" sz="3600" b="1" dirty="0" err="1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아키텍처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722041"/>
            <a:ext cx="6174232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팀원 간 협업과 결과물의 </a:t>
            </a:r>
            <a:r>
              <a:rPr lang="en-US" sz="1500" b="1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재현성(Reproducibility)</a:t>
            </a:r>
            <a:r>
              <a:rPr lang="en-US" sz="15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을 보장하기 위해 통합 가상 환경을 구축했습니다. 개별 패키지 설치로 생기는 </a:t>
            </a:r>
            <a:r>
              <a:rPr lang="en-US" sz="1500" b="1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의존성 충돌(Dependency Hell)</a:t>
            </a:r>
            <a:r>
              <a:rPr lang="en-US" sz="15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을 막기 위해 </a:t>
            </a:r>
            <a:r>
              <a:rPr lang="en-US" sz="1500" dirty="0">
                <a:solidFill>
                  <a:srgbClr val="C2410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environment.yml</a:t>
            </a:r>
            <a:r>
              <a:rPr lang="en-US" sz="15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을 작성하고 GitHub로 배포·동기화했습니다.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3296841"/>
            <a:ext cx="61742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개요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3645396"/>
            <a:ext cx="5994400" cy="0"/>
          </a:xfrm>
          <a:prstGeom prst="line">
            <a:avLst/>
          </a:prstGeom>
          <a:noFill/>
          <a:ln w="6350">
            <a:solidFill>
              <a:srgbClr val="D5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3775571"/>
            <a:ext cx="1257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566C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Target OS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71700" y="3775571"/>
            <a:ext cx="47745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2B35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4154587"/>
            <a:ext cx="5994400" cy="0"/>
          </a:xfrm>
          <a:prstGeom prst="line">
            <a:avLst/>
          </a:prstGeom>
          <a:noFill/>
          <a:ln w="6350">
            <a:solidFill>
              <a:srgbClr val="D5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4284762"/>
            <a:ext cx="1257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566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71700" y="4284762"/>
            <a:ext cx="47745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2B35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3.14.7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663777"/>
            <a:ext cx="5994400" cy="0"/>
          </a:xfrm>
          <a:prstGeom prst="line">
            <a:avLst/>
          </a:prstGeom>
          <a:noFill/>
          <a:ln w="6350">
            <a:solidFill>
              <a:srgbClr val="D5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4793952"/>
            <a:ext cx="1257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566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 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71700" y="4793952"/>
            <a:ext cx="47745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2B35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Conda (주요 환경) + pip (Conda 미지원 패키지)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0" y="1722041"/>
            <a:ext cx="4064000" cy="4004270"/>
          </a:xfrm>
          <a:prstGeom prst="roundRect">
            <a:avLst>
              <a:gd name="adj" fmla="val 2537"/>
            </a:avLst>
          </a:prstGeom>
          <a:solidFill>
            <a:srgbClr val="1E232B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3800" y="2217936"/>
            <a:ext cx="3606800" cy="0"/>
          </a:xfrm>
          <a:prstGeom prst="line">
            <a:avLst/>
          </a:prstGeom>
          <a:noFill/>
          <a:ln w="6350">
            <a:solidFill>
              <a:srgbClr val="353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1899841"/>
            <a:ext cx="37150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environment.yml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43800" y="23227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1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</a:t>
            </a:r>
            <a:r>
              <a:rPr lang="en-US" sz="1200" dirty="0">
                <a:solidFill>
                  <a:srgbClr val="7FB0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name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: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myenv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43800" y="25513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2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</a:t>
            </a:r>
            <a:r>
              <a:rPr lang="en-US" sz="1200" dirty="0">
                <a:solidFill>
                  <a:srgbClr val="7FB0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channels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43800" y="27799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3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defaults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43800" y="30085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4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</a:t>
            </a:r>
            <a:r>
              <a:rPr lang="en-US" sz="1200" dirty="0">
                <a:solidFill>
                  <a:srgbClr val="7FB0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dependencies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: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43800" y="32371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5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aom=3.13.2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43800" y="34657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6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blas=1.0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43800" y="36943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7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bzip2=1.0.8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43800" y="39229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8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ca-certificates=2026.8.13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43800" y="41515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9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cairo=1.18.4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43800" y="43801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10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contourpy=1.3.3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43800" y="46087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11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cycler=0.12.1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543800" y="48373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12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dav1d=1.5.3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43800" y="50659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13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</a:t>
            </a:r>
            <a:r>
              <a:rPr lang="en-US" sz="1200" dirty="0">
                <a:solidFill>
                  <a:srgbClr val="C9D1D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-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 </a:t>
            </a:r>
            <a:r>
              <a:rPr lang="en-US" sz="1200" dirty="0">
                <a:solidFill>
                  <a:srgbClr val="E6B4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expat=2.8.4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43800" y="5294511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D67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Mono" pitchFamily="34" charset="-120"/>
              </a:rPr>
              <a:t>       ⋯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개발 환경 및 아키텍처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800" y="16712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566C8"/>
          </a:solidFill>
          <a:ln/>
        </p:spPr>
        <p:txBody>
          <a:bodyPr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1671241"/>
            <a:ext cx="54940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단일 진입점 기반 통합 제어 </a:t>
            </a:r>
            <a:r>
              <a:rPr lang="en-US" sz="1500" b="1" dirty="0">
                <a:solidFill>
                  <a:srgbClr val="7A86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Entry Point &amp; Control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70000" y="1969691"/>
            <a:ext cx="54940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main.py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를 CLI 컨트롤러로 두고 </a:t>
            </a: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--preprocess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(전처리), </a:t>
            </a: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--skip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(생략), </a:t>
            </a: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--model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(모델 선택) 옵션으로 파이프라인 흐름을 제어합니다.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2800" y="263009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566C8"/>
          </a:solidFill>
          <a:ln/>
        </p:spPr>
        <p:txBody>
          <a:bodyPr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" y="263009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70000" y="2630091"/>
            <a:ext cx="54940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전처리 공정 모듈화 </a:t>
            </a:r>
            <a:r>
              <a:rPr lang="en-US" sz="1500" b="1" dirty="0">
                <a:solidFill>
                  <a:srgbClr val="7A86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Data Preprocessing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70000" y="2928541"/>
            <a:ext cx="54940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utils.py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의 </a:t>
            </a: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run_pipeline()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이 JSON 병합, 잘못된 Bbox 필터링, 계층적 분할(Stratified Split), 오버샘플링을 한 번에 처리합니다.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800" y="35889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566C8"/>
          </a:solidFill>
          <a:ln/>
        </p:spPr>
        <p:txBody>
          <a:bodyPr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2800" y="358894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70000" y="3588941"/>
            <a:ext cx="54940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독립적인 듀얼 모델 실행 </a:t>
            </a:r>
            <a:r>
              <a:rPr lang="en-US" sz="1500" b="1" dirty="0">
                <a:solidFill>
                  <a:srgbClr val="7A86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Model Execution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70000" y="3887391"/>
            <a:ext cx="54940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공통 저장소의 데이터로 </a:t>
            </a: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models_yolo.py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와 </a:t>
            </a: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models_faster.py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가 서로 간섭 없이 학습·추론합니다.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2800" y="454779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566C8"/>
          </a:solidFill>
          <a:ln/>
        </p:spPr>
        <p:txBody>
          <a:bodyPr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2800" y="454779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70000" y="4547791"/>
            <a:ext cx="54940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1B2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산출물 자동 규격화 </a:t>
            </a:r>
            <a:r>
              <a:rPr lang="en-US" sz="1500" b="1" dirty="0">
                <a:solidFill>
                  <a:srgbClr val="7A86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Result Formatting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70000" y="4846241"/>
            <a:ext cx="54940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result.py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의 </a:t>
            </a:r>
            <a:r>
              <a:rPr lang="en-US" sz="1200" dirty="0">
                <a:solidFill>
                  <a:srgbClr val="2F5B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make_CSV()</a:t>
            </a:r>
            <a:r>
              <a:rPr lang="en-US" sz="1200" dirty="0">
                <a:solidFill>
                  <a:srgbClr val="2B3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가 두 모델의 탐지 결과를 Kaggle 제출 양식(Submission CSV)으로 변환합니다.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Image 0" descr="파이프라인 구조도: main.py에서 전처리, 공통 저장소, YOLO·Faster R-CNN 모델, 결과 CSV로 이어지는 흐름">
            <a:extLst>
              <a:ext uri="{FF2B5EF4-FFF2-40B4-BE49-F238E27FC236}">
                <a16:creationId xmlns:a16="http://schemas.microsoft.com/office/drawing/2014/main" id="{E74F080C-2729-B60C-1D1E-01FAFC8D44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61200" y="1671241"/>
            <a:ext cx="43180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/>
          <p:nvPr/>
        </p:nvSpPr>
        <p:spPr>
          <a:xfrm>
            <a:off x="762000" y="4152900"/>
            <a:ext cx="10668000" cy="971550"/>
          </a:xfrm>
          <a:prstGeom prst="roundRect">
            <a:avLst>
              <a:gd name="adj" fmla="val 15686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086475" y="1981200"/>
            <a:ext cx="19050" cy="1562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762000" y="4152900"/>
            <a:ext cx="76200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762000" y="1981200"/>
            <a:ext cx="6096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715125" y="1981200"/>
            <a:ext cx="609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938462"/>
            <a:ext cx="88999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357562"/>
            <a:ext cx="88999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5125" y="2938462"/>
            <a:ext cx="88999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5125" y="3357562"/>
            <a:ext cx="88999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62000" y="762000"/>
            <a:ext cx="1143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 핵심 난제 해결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295400" y="4457700"/>
            <a:ext cx="108966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솔루션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다중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레이블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계층화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분할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(Multilabel Stratified Split)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도입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762000" y="2247900"/>
            <a:ext cx="618827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극심한 클래스 불균형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715125" y="2247900"/>
            <a:ext cx="54768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다중 객체 이미지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62000" y="2819400"/>
            <a:ext cx="58935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56개 클래스: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심각한 빈도 격차.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62000" y="3238500"/>
            <a:ext cx="58935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소수 클래스: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검증셋 누락 위험.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715125" y="2819400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혼재된 데이터: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이미지당 다수 알약.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715125" y="3238500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편중 위험: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단순 무작위 분할 불가.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dirty="0" err="1">
                <a:solidFill>
                  <a:srgbClr val="0F172A"/>
                </a:solidFill>
                <a:latin typeface="Noto Sans KR"/>
              </a:rPr>
              <a:t>데이터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증강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시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유의할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819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dirty="0">
                <a:solidFill>
                  <a:srgbClr val="1F497D"/>
                </a:solidFill>
                <a:latin typeface="Noto Sans KR"/>
              </a:rPr>
              <a:t>train / test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데이터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비교에서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확인한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사항과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증강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방향</a:t>
            </a:r>
            <a:endParaRPr sz="1800" b="1" dirty="0">
              <a:solidFill>
                <a:srgbClr val="1F497D"/>
              </a:solidFill>
              <a:latin typeface="Noto Sans KR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40280"/>
          <a:ext cx="10360152" cy="2974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137160" marR="137160" marT="73152" marB="73152" anchor="ctr">
                    <a:solidFill>
                      <a:srgbClr val="1F3B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</a:rPr>
                        <a:t>확인 사항</a:t>
                      </a:r>
                    </a:p>
                  </a:txBody>
                  <a:tcPr marL="137160" marR="137160" marT="73152" marB="73152" anchor="ctr">
                    <a:solidFill>
                      <a:srgbClr val="1F3B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</a:rPr>
                        <a:t>증강에 주는 시사점</a:t>
                      </a:r>
                    </a:p>
                  </a:txBody>
                  <a:tcPr marL="137160" marR="137160" marT="73152" marB="73152" anchor="ctr">
                    <a:solidFill>
                      <a:srgbClr val="1F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B66"/>
                          </a:solidFill>
                          <a:latin typeface="Noto Sans KR"/>
                        </a:rPr>
                        <a:t>밝기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Noto Sans KR"/>
                        </a:rPr>
                        <a:t>train은 130~150으로 좁게 분포, test는 90~165로 넓게 분포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밝기·대비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증강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폭을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넓게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설정</a:t>
                      </a:r>
                      <a:endParaRPr sz="14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B66"/>
                          </a:solidFill>
                          <a:latin typeface="Noto Sans KR"/>
                        </a:rPr>
                        <a:t>배경 색조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Noto Sans KR"/>
                        </a:rPr>
                        <a:t>train 배경은 100% 연회색·주백색, test는 보랏빛~밝은 청백색으로 다양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색상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(hue)·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채도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증강이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다소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필요</a:t>
                      </a:r>
                      <a:endParaRPr sz="14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B66"/>
                          </a:solidFill>
                          <a:latin typeface="Noto Sans KR"/>
                        </a:rPr>
                        <a:t>선명도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Noto Sans KR"/>
                        </a:rPr>
                        <a:t>촬영 각도(camera_la: 70 / 75 / 90)에 따라 이봉(두 봉우리) 분포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회전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(rotation)·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기울임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(shear)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증강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필요</a:t>
                      </a:r>
                      <a:endParaRPr sz="1400" b="1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B66"/>
                          </a:solidFill>
                          <a:latin typeface="Noto Sans KR"/>
                        </a:rPr>
                        <a:t>각인 문자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Noto Sans KR"/>
                        </a:rPr>
                        <a:t>알약에 각인 문자가 새겨져 있음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반전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(flip) 시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문자가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거울상이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됨 →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주의</a:t>
                      </a:r>
                      <a:endParaRPr sz="1400" b="1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B66"/>
                          </a:solidFill>
                          <a:latin typeface="Noto Sans KR"/>
                        </a:rPr>
                        <a:t>클래스 불균형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Noto Sans KR"/>
                        </a:rPr>
                        <a:t>56개 클래스, 클래스별 3~153장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오버샘플링으로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이미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대응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→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증강은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보조</a:t>
                      </a:r>
                      <a:r>
                        <a:rPr sz="1400" b="1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역할</a:t>
                      </a:r>
                      <a:endParaRPr sz="1400" b="1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dirty="0" err="1">
                <a:solidFill>
                  <a:srgbClr val="0F172A"/>
                </a:solidFill>
                <a:latin typeface="Noto Sans KR"/>
              </a:rPr>
              <a:t>데이터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증강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금지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사항</a:t>
            </a:r>
            <a:endParaRPr sz="36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5819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F497D"/>
                </a:solidFill>
                <a:latin typeface="Noto Sans KR"/>
              </a:rPr>
              <a:t>성능을 떨어뜨릴 수 있는 요소로 판단한 기법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40280"/>
          <a:ext cx="10360152" cy="2517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</a:rPr>
                        <a:t>기법</a:t>
                      </a:r>
                    </a:p>
                  </a:txBody>
                  <a:tcPr marL="137160" marR="137160" marT="73152" marB="73152" anchor="ctr"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</a:rPr>
                        <a:t>이유</a:t>
                      </a:r>
                    </a:p>
                  </a:txBody>
                  <a:tcPr marL="137160" marR="137160" marT="73152" marB="73152" anchor="ctr"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F1D1D"/>
                          </a:solidFill>
                          <a:latin typeface="Noto Sans KR"/>
                        </a:rPr>
                        <a:t>강한 색상 반전·왜곡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알약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고유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색상이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클래스</a:t>
                      </a:r>
                      <a:r>
                        <a:rPr sz="1400" b="1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구분의</a:t>
                      </a:r>
                      <a:r>
                        <a:rPr sz="1400" b="1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핵심</a:t>
                      </a:r>
                      <a:r>
                        <a:rPr sz="1400" b="1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특징</a:t>
                      </a:r>
                      <a:endParaRPr sz="1400" b="1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  <a:p>
                      <a:pPr algn="l"/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배경·조명이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통제된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상태로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촬영됨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)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F1D1D"/>
                          </a:solidFill>
                          <a:latin typeface="Noto Sans KR"/>
                        </a:rPr>
                        <a:t>강한 블러 추가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촬영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각도로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인한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자연스러운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블러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차이가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이미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존재</a:t>
                      </a:r>
                      <a:endParaRPr sz="14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  <a:p>
                      <a:pPr algn="l"/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→ 더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흐리게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하면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각인</a:t>
                      </a:r>
                      <a:r>
                        <a:rPr sz="1400" b="1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인식을</a:t>
                      </a:r>
                      <a:r>
                        <a:rPr sz="1400" b="1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방해</a:t>
                      </a:r>
                      <a:endParaRPr sz="1400" b="1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F1D1D"/>
                          </a:solidFill>
                          <a:latin typeface="Noto Sans KR"/>
                        </a:rPr>
                        <a:t>상하 반전 (flipud)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Noto Sans KR"/>
                        </a:rPr>
                        <a:t>각인 문자가 거꾸로 보이면 실제 데이터와 다른 </a:t>
                      </a:r>
                      <a:r>
                        <a:rPr sz="1400" b="1">
                          <a:solidFill>
                            <a:srgbClr val="334155"/>
                          </a:solidFill>
                          <a:latin typeface="Noto Sans KR"/>
                        </a:rPr>
                        <a:t>잘못된 패턴을 학습</a:t>
                      </a:r>
                      <a:r>
                        <a:rPr sz="1400" b="0">
                          <a:solidFill>
                            <a:srgbClr val="334155"/>
                          </a:solidFill>
                          <a:latin typeface="Noto Sans KR"/>
                        </a:rPr>
                        <a:t>할 위험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F1D1D"/>
                          </a:solidFill>
                          <a:latin typeface="Noto Sans KR"/>
                        </a:rPr>
                        <a:t>과도한 회전 (30° 이상)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원형·타원형·장방형이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섞여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있어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과도한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회전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시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bbox가</a:t>
                      </a:r>
                      <a:r>
                        <a:rPr sz="1400" b="1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비효율적으로</a:t>
                      </a:r>
                      <a:r>
                        <a:rPr sz="1400" b="1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커짐</a:t>
                      </a:r>
                      <a:endParaRPr sz="1400" b="1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914400" y="914400"/>
            <a:ext cx="1143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평가</a:t>
            </a:r>
            <a:endParaRPr dirty="0"/>
          </a:p>
        </p:txBody>
      </p:sp>
      <p:sp>
        <p:nvSpPr>
          <p:cNvPr id="3" name="Google Shape;209;p22">
            <a:extLst>
              <a:ext uri="{FF2B5EF4-FFF2-40B4-BE49-F238E27FC236}">
                <a16:creationId xmlns:a16="http://schemas.microsoft.com/office/drawing/2014/main" id="{52BB0C06-9D27-F475-216B-213B5CDAEF39}"/>
              </a:ext>
            </a:extLst>
          </p:cNvPr>
          <p:cNvSpPr txBox="1"/>
          <p:nvPr/>
        </p:nvSpPr>
        <p:spPr>
          <a:xfrm>
            <a:off x="1034900" y="1585200"/>
            <a:ext cx="1143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베이스라인 설정을 위한 파라미터 설정</a:t>
            </a:r>
            <a:endParaRPr sz="1800" b="1" dirty="0">
              <a:solidFill>
                <a:schemeClr val="dk2"/>
              </a:solidFill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4543D91-5517-4CDF-6A0C-10F0B733EB1F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240280"/>
          <a:ext cx="420624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KR"/>
                        </a:rPr>
                        <a:t>기본 설정</a:t>
                      </a:r>
                    </a:p>
                  </a:txBody>
                  <a:tcPr marL="128016" marR="128016" marT="27432" marB="27432" anchor="ctr">
                    <a:solidFill>
                      <a:srgbClr val="1F3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KR"/>
                        </a:rPr>
                        <a:t>값</a:t>
                      </a:r>
                    </a:p>
                  </a:txBody>
                  <a:tcPr marL="128016" marR="128016" marT="27432" marB="27432" anchor="ctr">
                    <a:solidFill>
                      <a:srgbClr val="1F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모델명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YOLO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버전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yolov8n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epoch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100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image size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640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learning rate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0.01 (Default)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21A2AC7-D71F-22C6-F437-80F03D1D4EC2}"/>
              </a:ext>
            </a:extLst>
          </p:cNvPr>
          <p:cNvSpPr/>
          <p:nvPr/>
        </p:nvSpPr>
        <p:spPr>
          <a:xfrm>
            <a:off x="914400" y="49834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Noto Sans KR"/>
              </a:rPr>
              <a:t>Leaderboard (</a:t>
            </a:r>
            <a:r>
              <a:rPr sz="1400" b="0" dirty="0" err="1">
                <a:solidFill>
                  <a:srgbClr val="FFFFFF"/>
                </a:solidFill>
                <a:latin typeface="Noto Sans KR"/>
              </a:rPr>
              <a:t>베이스라인</a:t>
            </a:r>
            <a:r>
              <a:rPr sz="1400" b="0" dirty="0">
                <a:solidFill>
                  <a:srgbClr val="FFFFFF"/>
                </a:solidFill>
                <a:latin typeface="Noto Sans KR"/>
              </a:rPr>
              <a:t>)</a:t>
            </a:r>
          </a:p>
          <a:p>
            <a:pPr algn="ctr"/>
            <a:r>
              <a:rPr sz="4000" b="1" dirty="0">
                <a:solidFill>
                  <a:srgbClr val="FFD166"/>
                </a:solidFill>
                <a:latin typeface="Noto Sans KR"/>
              </a:rPr>
              <a:t>0.3985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E174A1DB-A4BA-6BAC-E225-E5017181BD3B}"/>
              </a:ext>
            </a:extLst>
          </p:cNvPr>
          <p:cNvGraphicFramePr>
            <a:graphicFrameLocks noGrp="1"/>
          </p:cNvGraphicFramePr>
          <p:nvPr/>
        </p:nvGraphicFramePr>
        <p:xfrm>
          <a:off x="5577840" y="2240280"/>
          <a:ext cx="5696712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KR"/>
                        </a:rPr>
                        <a:t>증강 파라미터</a:t>
                      </a:r>
                    </a:p>
                  </a:txBody>
                  <a:tcPr marL="128016" marR="128016" marT="27432" marB="27432" anchor="ctr">
                    <a:solidFill>
                      <a:srgbClr val="1F3B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KR"/>
                        </a:rPr>
                        <a:t>의미</a:t>
                      </a:r>
                    </a:p>
                  </a:txBody>
                  <a:tcPr marL="128016" marR="128016" marT="27432" marB="27432" anchor="ctr">
                    <a:solidFill>
                      <a:srgbClr val="1F3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KR"/>
                        </a:rPr>
                        <a:t>값</a:t>
                      </a:r>
                    </a:p>
                  </a:txBody>
                  <a:tcPr marL="128016" marR="128016" marT="27432" marB="27432" anchor="ctr">
                    <a:solidFill>
                      <a:srgbClr val="1F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1F3B66"/>
                          </a:solidFill>
                          <a:latin typeface="Noto Sans KR"/>
                        </a:rPr>
                        <a:t>degrees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Noto Sans KR"/>
                        </a:rPr>
                        <a:t>회전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10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1F3B66"/>
                          </a:solidFill>
                          <a:latin typeface="Noto Sans KR"/>
                        </a:rPr>
                        <a:t>hsv_v</a:t>
                      </a:r>
                      <a:endParaRPr sz="1300" b="1" dirty="0">
                        <a:solidFill>
                          <a:srgbClr val="1F3B66"/>
                        </a:solidFill>
                        <a:latin typeface="Noto Sans KR"/>
                      </a:endParaRP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Noto Sans KR"/>
                        </a:rPr>
                        <a:t>밝기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0.5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1F3B66"/>
                          </a:solidFill>
                          <a:latin typeface="Noto Sans KR"/>
                        </a:rPr>
                        <a:t>hsv_h</a:t>
                      </a:r>
                      <a:endParaRPr sz="1300" b="1" dirty="0">
                        <a:solidFill>
                          <a:srgbClr val="1F3B66"/>
                        </a:solidFill>
                        <a:latin typeface="Noto Sans KR"/>
                      </a:endParaRP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Noto Sans KR"/>
                        </a:rPr>
                        <a:t>색조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0.02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hsv_s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채도</a:t>
                      </a:r>
                      <a:endParaRPr sz="13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0.6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fliplr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좌우</a:t>
                      </a:r>
                      <a:r>
                        <a:rPr sz="13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반전</a:t>
                      </a:r>
                      <a:endParaRPr sz="13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0.3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flipud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상하</a:t>
                      </a:r>
                      <a:r>
                        <a:rPr sz="13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반전</a:t>
                      </a:r>
                      <a:endParaRPr sz="13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translate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이동</a:t>
                      </a:r>
                      <a:r>
                        <a:rPr sz="13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변화</a:t>
                      </a:r>
                      <a:endParaRPr sz="13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0.1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scale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크기</a:t>
                      </a:r>
                      <a:r>
                        <a:rPr sz="1300" b="0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변화</a:t>
                      </a:r>
                      <a:endParaRPr sz="13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Noto Sans KR"/>
                        </a:rPr>
                        <a:t>0.3</a:t>
                      </a:r>
                    </a:p>
                  </a:txBody>
                  <a:tcPr marL="128016" marR="12801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B66"/>
                          </a:solidFill>
                          <a:latin typeface="Noto Sans KR"/>
                        </a:rPr>
                        <a:t>mosaic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모자이크</a:t>
                      </a:r>
                      <a:endParaRPr sz="1300" b="0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334155"/>
                          </a:solidFill>
                          <a:latin typeface="Noto Sans KR"/>
                        </a:rPr>
                        <a:t>0.5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3600" b="1" dirty="0">
                <a:solidFill>
                  <a:srgbClr val="0F172A"/>
                </a:solidFill>
                <a:latin typeface="Noto Sans KR"/>
              </a:rPr>
              <a:t>베이스라인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학습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결과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분석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①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학습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곡선</a:t>
            </a:r>
            <a:endParaRPr sz="36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5819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dirty="0">
                <a:solidFill>
                  <a:srgbClr val="1F497D"/>
                </a:solidFill>
                <a:latin typeface="Noto Sans KR"/>
              </a:rPr>
              <a:t>100 Epoch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동안의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손실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(Loss)과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성능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지표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추이</a:t>
            </a:r>
            <a:endParaRPr sz="1800" b="1" dirty="0">
              <a:solidFill>
                <a:srgbClr val="1F497D"/>
              </a:solidFill>
              <a:latin typeface="Noto Sans KR"/>
            </a:endParaRPr>
          </a:p>
        </p:txBody>
      </p:sp>
      <p:pic>
        <p:nvPicPr>
          <p:cNvPr id="4" name="Picture 3" descr="179030349590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0280"/>
            <a:ext cx="6400800" cy="318943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2240280"/>
            <a:ext cx="1121664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28016" rIns="45720" bIns="128016" rtlCol="0" anchor="ctr"/>
          <a:lstStyle/>
          <a:p>
            <a:pPr algn="ctr"/>
            <a:r>
              <a:rPr sz="2200" b="1">
                <a:solidFill>
                  <a:srgbClr val="2878D8"/>
                </a:solidFill>
                <a:latin typeface="Noto Sans KR"/>
              </a:rPr>
              <a:t>≈0.97</a:t>
            </a:r>
          </a:p>
          <a:p>
            <a:pPr algn="ctr"/>
            <a:r>
              <a:rPr sz="1100" b="0">
                <a:solidFill>
                  <a:srgbClr val="334155"/>
                </a:solidFill>
                <a:latin typeface="Noto Sans KR"/>
              </a:rPr>
              <a:t>mAP50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4064" y="2240280"/>
            <a:ext cx="1121664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28016" rIns="45720" bIns="128016" rtlCol="0" anchor="ctr"/>
          <a:lstStyle/>
          <a:p>
            <a:pPr algn="ctr"/>
            <a:r>
              <a:rPr sz="2200" b="1">
                <a:solidFill>
                  <a:srgbClr val="2878D8"/>
                </a:solidFill>
                <a:latin typeface="Noto Sans KR"/>
              </a:rPr>
              <a:t>≈0.94</a:t>
            </a:r>
          </a:p>
          <a:p>
            <a:pPr algn="ctr"/>
            <a:r>
              <a:rPr sz="1100" b="0">
                <a:solidFill>
                  <a:srgbClr val="334155"/>
                </a:solidFill>
                <a:latin typeface="Noto Sans KR"/>
              </a:rPr>
              <a:t>mAP50-95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52888" y="2240280"/>
            <a:ext cx="1121664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28016" rIns="45720" bIns="128016" rtlCol="0" anchor="ctr"/>
          <a:lstStyle/>
          <a:p>
            <a:pPr algn="ctr"/>
            <a:r>
              <a:rPr sz="2200" b="1">
                <a:solidFill>
                  <a:srgbClr val="2878D8"/>
                </a:solidFill>
                <a:latin typeface="Noto Sans KR"/>
              </a:rPr>
              <a:t>≈0.99</a:t>
            </a:r>
          </a:p>
          <a:p>
            <a:pPr algn="ctr"/>
            <a:r>
              <a:rPr sz="1100" b="0">
                <a:solidFill>
                  <a:srgbClr val="334155"/>
                </a:solidFill>
                <a:latin typeface="Noto Sans KR"/>
              </a:rPr>
              <a:t>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291840"/>
            <a:ext cx="3639312" cy="1325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Noto Sans KR"/>
              </a:rPr>
              <a:t>손실(Loss) 감소 추이</a:t>
            </a:r>
          </a:p>
          <a:p>
            <a:pPr marL="200000" indent="-200000" algn="l">
              <a:spcAft>
                <a:spcPts val="300"/>
              </a:spcAft>
              <a:buChar char="•"/>
            </a:pPr>
            <a:r>
              <a:rPr sz="1200" b="0">
                <a:solidFill>
                  <a:srgbClr val="334155"/>
                </a:solidFill>
                <a:latin typeface="Noto Sans KR"/>
              </a:rPr>
              <a:t>train box / cls / dfl loss 모두 100 Epoch 동안 지속적으로 하락·안정화</a:t>
            </a:r>
          </a:p>
          <a:p>
            <a:pPr marL="200000" indent="-200000" algn="l">
              <a:buChar char="•"/>
            </a:pPr>
            <a:r>
              <a:rPr sz="1200" b="0">
                <a:solidFill>
                  <a:srgbClr val="334155"/>
                </a:solidFill>
                <a:latin typeface="Noto Sans KR"/>
              </a:rPr>
              <a:t>val loss도 train과 비슷한 궤적으로 감소 → </a:t>
            </a:r>
            <a:r>
              <a:rPr sz="1200" b="1">
                <a:solidFill>
                  <a:srgbClr val="0F172A"/>
                </a:solidFill>
                <a:latin typeface="Noto Sans KR"/>
              </a:rPr>
              <a:t>과적합(Overfitting) 없이 일반화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800600"/>
            <a:ext cx="3639312" cy="1600200"/>
          </a:xfrm>
          <a:prstGeom prst="roundRect">
            <a:avLst>
              <a:gd name="adj" fmla="val 6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Noto Sans KR"/>
              </a:rPr>
              <a:t>성능 지표 수렴</a:t>
            </a:r>
          </a:p>
          <a:p>
            <a:pPr marL="200000" indent="-200000" algn="l">
              <a:spcAft>
                <a:spcPts val="300"/>
              </a:spcAft>
              <a:buChar char="•"/>
            </a:pPr>
            <a:r>
              <a:rPr sz="1200" b="0">
                <a:solidFill>
                  <a:srgbClr val="334155"/>
                </a:solidFill>
                <a:latin typeface="Noto Sans KR"/>
              </a:rPr>
              <a:t>Precision·Recall·mAP50·mAP50-95 모두 20~30 Epoch에서 급상승 후 </a:t>
            </a:r>
            <a:r>
              <a:rPr sz="1200" b="1">
                <a:solidFill>
                  <a:srgbClr val="0F172A"/>
                </a:solidFill>
                <a:latin typeface="Noto Sans KR"/>
              </a:rPr>
              <a:t>0.9 이상 유지</a:t>
            </a:r>
          </a:p>
          <a:p>
            <a:pPr marL="200000" indent="-200000" algn="l">
              <a:buChar char="•"/>
            </a:pPr>
            <a:r>
              <a:rPr sz="1200" b="0">
                <a:solidFill>
                  <a:srgbClr val="334155"/>
                </a:solidFill>
                <a:latin typeface="Noto Sans KR"/>
              </a:rPr>
              <a:t>데이터셋이 학습하기에 충분히 명확한 특징을 가짐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02866"/>
            <a:ext cx="64008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KR"/>
              </a:rPr>
              <a:t>※ 오른쪽 수치는 그래프에서 읽은 최종 Epoch 부근 근사값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3600" b="1" dirty="0">
                <a:solidFill>
                  <a:srgbClr val="0F172A"/>
                </a:solidFill>
                <a:latin typeface="Noto Sans KR"/>
              </a:rPr>
              <a:t>베이스라인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학습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결과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분석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②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혼동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행렬</a:t>
            </a:r>
            <a:endParaRPr sz="36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5819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dirty="0" err="1">
                <a:solidFill>
                  <a:srgbClr val="1F497D"/>
                </a:solidFill>
                <a:latin typeface="Noto Sans KR"/>
              </a:rPr>
              <a:t>정규화된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혼동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행렬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(Confusion Matrix Normalized)</a:t>
            </a:r>
          </a:p>
        </p:txBody>
      </p:sp>
      <p:pic>
        <p:nvPicPr>
          <p:cNvPr id="4" name="Picture 3" descr="179030355769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0280"/>
            <a:ext cx="5656847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37007" y="2240280"/>
            <a:ext cx="4337544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Noto Sans KR"/>
              </a:rPr>
              <a:t>대각선에 집중된 예측</a:t>
            </a:r>
          </a:p>
          <a:p>
            <a:pPr marL="200000" indent="-200000" algn="l">
              <a:spcAft>
                <a:spcPts val="300"/>
              </a:spcAft>
              <a:buChar char="•"/>
            </a:pPr>
            <a:r>
              <a:rPr sz="1200" b="0">
                <a:solidFill>
                  <a:srgbClr val="334155"/>
                </a:solidFill>
                <a:latin typeface="Noto Sans KR"/>
              </a:rPr>
              <a:t>56개 클래스 대부분이 대각선에 짙게 모여 있음 → </a:t>
            </a:r>
            <a:r>
              <a:rPr sz="1200" b="1">
                <a:solidFill>
                  <a:srgbClr val="0F172A"/>
                </a:solidFill>
                <a:latin typeface="Noto Sans KR"/>
              </a:rPr>
              <a:t>알약끼리 거의 헷갈리지 않음</a:t>
            </a:r>
          </a:p>
          <a:p>
            <a:pPr marL="200000" indent="-200000" algn="l">
              <a:buChar char="•"/>
            </a:pPr>
            <a:r>
              <a:rPr sz="1200" b="0">
                <a:solidFill>
                  <a:srgbClr val="334155"/>
                </a:solidFill>
                <a:latin typeface="Noto Sans KR"/>
              </a:rPr>
              <a:t>배경 오인·알약 누락(마지막 행/열) 비율은 극히 미미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37007" y="3840480"/>
            <a:ext cx="4337544" cy="123444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l">
              <a:spcAft>
                <a:spcPts val="500"/>
              </a:spcAft>
            </a:pPr>
            <a:r>
              <a:rPr sz="1450" b="1" dirty="0" err="1">
                <a:solidFill>
                  <a:srgbClr val="0F172A"/>
                </a:solidFill>
                <a:latin typeface="Noto Sans KR"/>
              </a:rPr>
              <a:t>확인이</a:t>
            </a:r>
            <a:r>
              <a:rPr sz="145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450" b="1" dirty="0" err="1">
                <a:solidFill>
                  <a:srgbClr val="0F172A"/>
                </a:solidFill>
                <a:latin typeface="Noto Sans KR"/>
              </a:rPr>
              <a:t>필요한</a:t>
            </a:r>
            <a:r>
              <a:rPr sz="145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450" b="1" dirty="0" err="1">
                <a:solidFill>
                  <a:srgbClr val="0F172A"/>
                </a:solidFill>
                <a:latin typeface="Noto Sans KR"/>
              </a:rPr>
              <a:t>부분</a:t>
            </a:r>
            <a:endParaRPr sz="1450" b="1" dirty="0">
              <a:solidFill>
                <a:srgbClr val="0F172A"/>
              </a:solidFill>
              <a:latin typeface="Noto Sans KR"/>
            </a:endParaRPr>
          </a:p>
          <a:p>
            <a:pPr marL="200000" indent="-200000" algn="l">
              <a:spcAft>
                <a:spcPts val="300"/>
              </a:spcAft>
              <a:buChar char="•"/>
            </a:pPr>
            <a:r>
              <a:rPr sz="1200" b="1" dirty="0" err="1">
                <a:solidFill>
                  <a:srgbClr val="7F1D1D"/>
                </a:solidFill>
                <a:latin typeface="Noto Sans KR"/>
              </a:rPr>
              <a:t>리렉스펜정</a:t>
            </a:r>
            <a:r>
              <a:rPr sz="1200" b="1" dirty="0">
                <a:solidFill>
                  <a:srgbClr val="7F1D1D"/>
                </a:solidFill>
                <a:latin typeface="Noto Sans KR"/>
              </a:rPr>
              <a:t> 300mg</a:t>
            </a:r>
            <a:r>
              <a:rPr sz="1200" b="0" dirty="0">
                <a:solidFill>
                  <a:srgbClr val="334155"/>
                </a:solidFill>
                <a:latin typeface="Noto Sans KR"/>
              </a:rPr>
              <a:t> → 써스펜8시간이알서방정 650mg으로 </a:t>
            </a:r>
            <a:r>
              <a:rPr sz="1200" b="0" dirty="0" err="1">
                <a:solidFill>
                  <a:srgbClr val="334155"/>
                </a:solidFill>
                <a:latin typeface="Noto Sans KR"/>
              </a:rPr>
              <a:t>예측</a:t>
            </a:r>
            <a:endParaRPr sz="1200" b="0" dirty="0">
              <a:solidFill>
                <a:srgbClr val="334155"/>
              </a:solidFill>
              <a:latin typeface="Noto Sans KR"/>
            </a:endParaRPr>
          </a:p>
          <a:p>
            <a:pPr marL="200000" indent="-200000" algn="l">
              <a:buChar char="•"/>
            </a:pPr>
            <a:r>
              <a:rPr sz="1200" b="0" dirty="0" err="1">
                <a:solidFill>
                  <a:srgbClr val="334155"/>
                </a:solidFill>
                <a:latin typeface="Noto Sans KR"/>
              </a:rPr>
              <a:t>가바토파정</a:t>
            </a:r>
            <a:r>
              <a:rPr sz="1200" b="0" dirty="0">
                <a:solidFill>
                  <a:srgbClr val="334155"/>
                </a:solidFill>
                <a:latin typeface="Noto Sans KR"/>
              </a:rPr>
              <a:t> 100mg, </a:t>
            </a:r>
            <a:r>
              <a:rPr sz="1200" b="0" dirty="0" err="1">
                <a:solidFill>
                  <a:srgbClr val="334155"/>
                </a:solidFill>
                <a:latin typeface="Noto Sans KR"/>
              </a:rPr>
              <a:t>플라빅스정</a:t>
            </a:r>
            <a:r>
              <a:rPr sz="1200" b="0" dirty="0">
                <a:solidFill>
                  <a:srgbClr val="334155"/>
                </a:solidFill>
                <a:latin typeface="Noto Sans KR"/>
              </a:rPr>
              <a:t> 75mg </a:t>
            </a:r>
            <a:r>
              <a:rPr sz="1200" b="0" dirty="0" err="1">
                <a:solidFill>
                  <a:srgbClr val="334155"/>
                </a:solidFill>
                <a:latin typeface="Noto Sans KR"/>
              </a:rPr>
              <a:t>일부</a:t>
            </a:r>
            <a:r>
              <a:rPr sz="120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Noto Sans KR"/>
              </a:rPr>
              <a:t>혼동</a:t>
            </a:r>
            <a:endParaRPr sz="1200" b="0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37007" y="5257800"/>
            <a:ext cx="4337544" cy="1143000"/>
          </a:xfrm>
          <a:prstGeom prst="roundRect">
            <a:avLst>
              <a:gd name="adj" fmla="val 6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>
              <a:spcAft>
                <a:spcPts val="400"/>
              </a:spcAft>
            </a:pPr>
            <a:r>
              <a:rPr sz="1450" b="1" dirty="0" err="1">
                <a:solidFill>
                  <a:srgbClr val="FFFFFF"/>
                </a:solidFill>
                <a:latin typeface="Noto Sans KR"/>
              </a:rPr>
              <a:t>결론</a:t>
            </a:r>
            <a:endParaRPr sz="1450" b="1" dirty="0">
              <a:solidFill>
                <a:srgbClr val="FFFFFF"/>
              </a:solidFill>
              <a:latin typeface="Noto Sans KR"/>
            </a:endParaRPr>
          </a:p>
          <a:p>
            <a:pPr algn="l"/>
            <a:r>
              <a:rPr sz="1200" b="0" dirty="0" err="1">
                <a:solidFill>
                  <a:srgbClr val="FFFFFF"/>
                </a:solidFill>
                <a:latin typeface="Noto Sans KR"/>
              </a:rPr>
              <a:t>현재</a:t>
            </a:r>
            <a:r>
              <a:rPr sz="12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Noto Sans KR"/>
              </a:rPr>
              <a:t>모델은</a:t>
            </a:r>
            <a:r>
              <a:rPr sz="12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Noto Sans KR"/>
              </a:rPr>
              <a:t>주어진</a:t>
            </a:r>
            <a:r>
              <a:rPr sz="12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Noto Sans KR"/>
              </a:rPr>
              <a:t>데이터셋에서</a:t>
            </a:r>
            <a:r>
              <a:rPr sz="12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Noto Sans KR"/>
              </a:rPr>
              <a:t>좋은</a:t>
            </a:r>
            <a:r>
              <a:rPr sz="12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Noto Sans KR"/>
              </a:rPr>
              <a:t>성능</a:t>
            </a:r>
            <a:r>
              <a:rPr sz="1200" b="0" dirty="0">
                <a:solidFill>
                  <a:srgbClr val="FFFFFF"/>
                </a:solidFill>
                <a:latin typeface="Noto Sans KR"/>
              </a:rPr>
              <a:t> → </a:t>
            </a:r>
            <a:r>
              <a:rPr sz="1200" b="1" dirty="0" err="1">
                <a:solidFill>
                  <a:srgbClr val="FFD166"/>
                </a:solidFill>
                <a:latin typeface="Noto Sans KR"/>
              </a:rPr>
              <a:t>파라미터</a:t>
            </a:r>
            <a:r>
              <a:rPr sz="1200" b="1" dirty="0">
                <a:solidFill>
                  <a:srgbClr val="FFD166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FFD166"/>
                </a:solidFill>
                <a:latin typeface="Noto Sans KR"/>
              </a:rPr>
              <a:t>설정은</a:t>
            </a:r>
            <a:r>
              <a:rPr sz="1200" b="1" dirty="0">
                <a:solidFill>
                  <a:srgbClr val="FFD166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FFD166"/>
                </a:solidFill>
                <a:latin typeface="Noto Sans KR"/>
              </a:rPr>
              <a:t>고정</a:t>
            </a:r>
            <a:endParaRPr sz="1200" b="1" dirty="0">
              <a:solidFill>
                <a:srgbClr val="FFD166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3600" b="1" dirty="0">
                <a:solidFill>
                  <a:srgbClr val="0F172A"/>
                </a:solidFill>
                <a:latin typeface="Noto Sans KR"/>
              </a:rPr>
              <a:t>베이스라인 학습 결과 분석 ③ </a:t>
            </a:r>
            <a:r>
              <a:rPr lang="en-US" altLang="ko-KR" sz="3600" b="1" dirty="0">
                <a:solidFill>
                  <a:srgbClr val="0F172A"/>
                </a:solidFill>
                <a:latin typeface="Noto Sans KR"/>
              </a:rPr>
              <a:t>val_batch0</a:t>
            </a:r>
            <a:endParaRPr lang="ko-KR" altLang="en-US" sz="36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5819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 err="1">
                <a:solidFill>
                  <a:srgbClr val="1F497D"/>
                </a:solidFill>
                <a:latin typeface="Noto Sans KR"/>
              </a:rPr>
              <a:t>정답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라벨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(labels)과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모델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예측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(pred)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비교</a:t>
            </a:r>
            <a:endParaRPr sz="1800" b="1" dirty="0">
              <a:solidFill>
                <a:srgbClr val="1F497D"/>
              </a:solidFill>
              <a:latin typeface="Noto Sans K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2975530" cy="32918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정답 (labels)</a:t>
            </a:r>
          </a:p>
        </p:txBody>
      </p:sp>
      <p:pic>
        <p:nvPicPr>
          <p:cNvPr id="5" name="Picture 4" descr="179030654643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2975530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97978" y="4611612"/>
            <a:ext cx="235697" cy="372692"/>
          </a:xfrm>
          <a:prstGeom prst="rect">
            <a:avLst/>
          </a:prstGeom>
          <a:noFill/>
          <a:ln w="317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60523" y="4456164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85604" y="4184188"/>
            <a:ext cx="241177" cy="241177"/>
          </a:xfrm>
          <a:prstGeom prst="rect">
            <a:avLst/>
          </a:prstGeom>
          <a:noFill/>
          <a:ln w="317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3629" y="4028740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2810" y="2194560"/>
            <a:ext cx="2982189" cy="329184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예측 (pred)</a:t>
            </a:r>
          </a:p>
        </p:txBody>
      </p:sp>
      <p:pic>
        <p:nvPicPr>
          <p:cNvPr id="11" name="Picture 10" descr="179030656911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810" y="2606040"/>
            <a:ext cx="2982189" cy="3794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52421" y="4618326"/>
            <a:ext cx="231750" cy="380997"/>
          </a:xfrm>
          <a:prstGeom prst="rect">
            <a:avLst/>
          </a:prstGeom>
          <a:noFill/>
          <a:ln w="317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11019" y="4462878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6585" y="4198221"/>
            <a:ext cx="242805" cy="237277"/>
          </a:xfrm>
          <a:prstGeom prst="rect">
            <a:avLst/>
          </a:prstGeom>
          <a:noFill/>
          <a:ln w="317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06238" y="4042773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6479" y="2194560"/>
            <a:ext cx="3808072" cy="109728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Noto Sans KR"/>
              </a:rPr>
              <a:t>대부분 정확하게 검출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Noto Sans KR"/>
              </a:rPr>
              <a:t>대부분의 알약을 </a:t>
            </a:r>
            <a:r>
              <a:rPr sz="1150" b="1">
                <a:solidFill>
                  <a:srgbClr val="0F172A"/>
                </a:solidFill>
                <a:latin typeface="Noto Sans KR"/>
              </a:rPr>
              <a:t>신뢰도 0.9~1.0</a:t>
            </a:r>
            <a:r>
              <a:rPr sz="1150" b="0">
                <a:solidFill>
                  <a:srgbClr val="334155"/>
                </a:solidFill>
                <a:latin typeface="Noto Sans KR"/>
              </a:rPr>
              <a:t>으로 정답과 같게 분류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6479" y="3474720"/>
            <a:ext cx="3808072" cy="141732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73152" rIns="164592" bIns="73152" rtlCol="0" anchor="ctr"/>
          <a:lstStyle/>
          <a:p>
            <a:pPr algn="l"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  <a:latin typeface="Noto Sans KR"/>
              </a:rPr>
              <a:t>오분류</a:t>
            </a:r>
            <a:endParaRPr sz="1400" b="1" dirty="0">
              <a:solidFill>
                <a:srgbClr val="0F172A"/>
              </a:solidFill>
              <a:latin typeface="Noto Sans KR"/>
            </a:endParaRPr>
          </a:p>
          <a:p>
            <a:pPr algn="l"/>
            <a:r>
              <a:rPr sz="1150" b="1" dirty="0" err="1">
                <a:solidFill>
                  <a:srgbClr val="7F1D1D"/>
                </a:solidFill>
                <a:latin typeface="Noto Sans KR"/>
              </a:rPr>
              <a:t>리렉스펜정</a:t>
            </a:r>
            <a:r>
              <a:rPr sz="1150" b="1" dirty="0">
                <a:solidFill>
                  <a:srgbClr val="7F1D1D"/>
                </a:solidFill>
                <a:latin typeface="Noto Sans KR"/>
              </a:rPr>
              <a:t> 300mg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을 </a:t>
            </a:r>
            <a:r>
              <a:rPr sz="1150" b="1" dirty="0">
                <a:solidFill>
                  <a:srgbClr val="7F1D1D"/>
                </a:solidFill>
                <a:latin typeface="Noto Sans KR"/>
              </a:rPr>
              <a:t>써스펜8시간이알서방정 650mg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으로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예측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→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혼동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행렬에서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본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오류와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같음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(둘 다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흰색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50" b="0" dirty="0" err="1">
                <a:solidFill>
                  <a:srgbClr val="334155"/>
                </a:solidFill>
                <a:latin typeface="Noto Sans KR"/>
              </a:rPr>
              <a:t>장방형</a:t>
            </a:r>
            <a:r>
              <a:rPr sz="1150" b="0" dirty="0">
                <a:solidFill>
                  <a:srgbClr val="334155"/>
                </a:solidFill>
                <a:latin typeface="Noto Sans KR"/>
              </a:rPr>
              <a:t>)</a:t>
            </a:r>
          </a:p>
        </p:txBody>
      </p:sp>
      <p:sp>
        <p:nvSpPr>
          <p:cNvPr id="18" name="Oval 17"/>
          <p:cNvSpPr/>
          <p:nvPr/>
        </p:nvSpPr>
        <p:spPr>
          <a:xfrm>
            <a:off x="7612783" y="365760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6479" y="5074920"/>
            <a:ext cx="3808072" cy="132588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73152" rIns="164592" bIns="73152" rtlCol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Noto Sans KR"/>
              </a:rPr>
              <a:t>라벨 누락 의심</a:t>
            </a:r>
          </a:p>
          <a:p>
            <a:pPr algn="l"/>
            <a:r>
              <a:rPr sz="1150" b="0">
                <a:solidFill>
                  <a:srgbClr val="334155"/>
                </a:solidFill>
                <a:latin typeface="Noto Sans KR"/>
              </a:rPr>
              <a:t>정답에 박스가 없는 알약을 모델이 </a:t>
            </a:r>
            <a:r>
              <a:rPr sz="1150" b="1">
                <a:solidFill>
                  <a:srgbClr val="7F1D1D"/>
                </a:solidFill>
                <a:latin typeface="Noto Sans KR"/>
              </a:rPr>
              <a:t>가바토파정</a:t>
            </a:r>
            <a:r>
              <a:rPr sz="1150" b="0">
                <a:solidFill>
                  <a:srgbClr val="334155"/>
                </a:solidFill>
                <a:latin typeface="Noto Sans KR"/>
              </a:rPr>
              <a:t>으로 검출 → 모델 오류가 아닌 </a:t>
            </a:r>
            <a:r>
              <a:rPr sz="1150" b="1">
                <a:solidFill>
                  <a:srgbClr val="7F1D1D"/>
                </a:solidFill>
                <a:latin typeface="Noto Sans KR"/>
              </a:rPr>
              <a:t>라벨 누락</a:t>
            </a:r>
            <a:r>
              <a:rPr sz="1150" b="0">
                <a:solidFill>
                  <a:srgbClr val="334155"/>
                </a:solidFill>
                <a:latin typeface="Noto Sans KR"/>
              </a:rPr>
              <a:t> 가능성</a:t>
            </a:r>
          </a:p>
        </p:txBody>
      </p:sp>
      <p:sp>
        <p:nvSpPr>
          <p:cNvPr id="20" name="Oval 19"/>
          <p:cNvSpPr/>
          <p:nvPr/>
        </p:nvSpPr>
        <p:spPr>
          <a:xfrm>
            <a:off x="7612783" y="525780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914400" y="914400"/>
            <a:ext cx="1143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1 -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버전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크기별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성능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비교</a:t>
            </a:r>
            <a:endParaRPr dirty="0"/>
          </a:p>
        </p:txBody>
      </p:sp>
      <p:sp>
        <p:nvSpPr>
          <p:cNvPr id="209" name="Google Shape;209;p22"/>
          <p:cNvSpPr txBox="1"/>
          <p:nvPr/>
        </p:nvSpPr>
        <p:spPr>
          <a:xfrm>
            <a:off x="1034900" y="1585200"/>
            <a:ext cx="1143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사이즈가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크고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최신일수록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성능이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무조건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좋을까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endParaRPr sz="1800" b="1" dirty="0">
              <a:solidFill>
                <a:schemeClr val="dk2"/>
              </a:solidFill>
            </a:endParaRPr>
          </a:p>
        </p:txBody>
      </p:sp>
      <p:graphicFrame>
        <p:nvGraphicFramePr>
          <p:cNvPr id="210" name="Google Shape;210;p22"/>
          <p:cNvGraphicFramePr/>
          <p:nvPr/>
        </p:nvGraphicFramePr>
        <p:xfrm>
          <a:off x="952500" y="2286000"/>
          <a:ext cx="10287000" cy="3596430"/>
        </p:xfrm>
        <a:graphic>
          <a:graphicData uri="http://schemas.openxmlformats.org/drawingml/2006/table">
            <a:tbl>
              <a:tblPr>
                <a:noFill/>
                <a:tableStyleId>{E51176D2-A62D-412C-88D4-E07ADD69E8C3}</a:tableStyleId>
              </a:tblPr>
              <a:tblGrid>
                <a:gridCol w="150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모델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버전</a:t>
                      </a:r>
                      <a:r>
                        <a:rPr lang="en-US" dirty="0"/>
                        <a:t>(Size)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 mAP50-95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Kaggle Score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핵심 분석 및 시사점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yolov8n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0.962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0.3985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[베이스라인] 파라미터가 적은 Nano 모델로, 소규모 데이터셋(232장)에서 과적합(Overfitting) 위험을 방지하며 준수한 기본 성능을 달성함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yolov8s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0.972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0.3853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[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</a:rPr>
                        <a:t>애매한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</a:rPr>
                        <a:t>포지셔닝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]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과적합을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피하는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가벼운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n(Nano)과,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표현력이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극대화된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l(Large)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사이의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애매한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체급으로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인해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오히려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가장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저조한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점수를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기록함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yolo11n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0.973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0.40507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[Attention 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</a:rPr>
                        <a:t>도입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]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v8에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없던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C2PSA(Attention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블록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)이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탑재되어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배경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대신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'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각인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문자'에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집중하기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시작함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. 단, Nano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사이즈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특성상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Attention을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완벽히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활용할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여력이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부족함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yolo11s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0.39609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[애매한 포지셔닝]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과적합을 피하는 가벼운 n(Nano)과, 표현력이 극대화된 l(Large) 사이의 애매한 체급으로 인해 오히려 가장 저조한 점수를 기록함.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yolo11l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0.971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CF5148"/>
                          </a:solidFill>
                        </a:rPr>
                        <a:t>0.42134</a:t>
                      </a:r>
                      <a:endParaRPr sz="16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2"/>
                          </a:solidFill>
                        </a:rPr>
                        <a:t>[</a:t>
                      </a:r>
                      <a:r>
                        <a:rPr lang="en-US" sz="1100" b="1" dirty="0" err="1">
                          <a:solidFill>
                            <a:schemeClr val="dk2"/>
                          </a:solidFill>
                        </a:rPr>
                        <a:t>최고</a:t>
                      </a:r>
                      <a:r>
                        <a:rPr lang="en-US" sz="1100" b="1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dk2"/>
                          </a:solidFill>
                        </a:rPr>
                        <a:t>성능</a:t>
                      </a:r>
                      <a:r>
                        <a:rPr lang="en-US" sz="1100" b="1" dirty="0">
                          <a:solidFill>
                            <a:schemeClr val="dk2"/>
                          </a:solidFill>
                        </a:rPr>
                        <a:t> / </a:t>
                      </a:r>
                      <a:r>
                        <a:rPr lang="en-US" sz="1100" b="1" dirty="0" err="1">
                          <a:solidFill>
                            <a:schemeClr val="dk2"/>
                          </a:solidFill>
                        </a:rPr>
                        <a:t>아키텍처</a:t>
                      </a:r>
                      <a:r>
                        <a:rPr lang="en-US" sz="1100" b="1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dk2"/>
                          </a:solidFill>
                        </a:rPr>
                        <a:t>시너지</a:t>
                      </a:r>
                      <a:r>
                        <a:rPr lang="en-US" sz="1100" b="1" dirty="0">
                          <a:solidFill>
                            <a:schemeClr val="dk2"/>
                          </a:solidFill>
                        </a:rPr>
                        <a:t>]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Attention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모듈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(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어디를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볼지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판단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)과 Large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모델의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풍부한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표현력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(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깊은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구조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)이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시너지를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내어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미세한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각인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차이를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가장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정교하게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2"/>
                          </a:solidFill>
                        </a:rPr>
                        <a:t>구분해</a:t>
                      </a: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 냄. 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yolo26n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0.958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0.39142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[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</a:rPr>
                        <a:t>도메인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</a:rPr>
                        <a:t>불일치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]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가장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최신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모델이나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주로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화면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비율이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극히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작은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객체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드론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항공사진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등)에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특화된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개선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기법이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적용되어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픽셀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비중이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큰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알약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이미지에는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효과가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없었음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1" name="Google Shape;211;p22"/>
          <p:cNvSpPr/>
          <p:nvPr/>
        </p:nvSpPr>
        <p:spPr>
          <a:xfrm>
            <a:off x="914400" y="4846125"/>
            <a:ext cx="10287000" cy="554100"/>
          </a:xfrm>
          <a:prstGeom prst="rect">
            <a:avLst/>
          </a:prstGeom>
          <a:noFill/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350" y="2978900"/>
            <a:ext cx="5562601" cy="2781300"/>
          </a:xfrm>
          <a:prstGeom prst="rect">
            <a:avLst/>
          </a:prstGeom>
          <a:solidFill>
            <a:srgbClr val="EFEFEF"/>
          </a:solidFill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914400" y="914400"/>
            <a:ext cx="1161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2 - AI HUB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확보</a:t>
            </a:r>
            <a:r>
              <a:rPr lang="en-US" sz="36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36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</a:t>
            </a:r>
            <a:endParaRPr dirty="0"/>
          </a:p>
        </p:txBody>
      </p:sp>
      <p:sp>
        <p:nvSpPr>
          <p:cNvPr id="218" name="Google Shape;218;p23"/>
          <p:cNvSpPr txBox="1"/>
          <p:nvPr/>
        </p:nvSpPr>
        <p:spPr>
          <a:xfrm>
            <a:off x="1034900" y="1585200"/>
            <a:ext cx="1143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AI HUB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데이터를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추가하면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성능이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크게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오를까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endParaRPr sz="1800" b="1" dirty="0">
              <a:solidFill>
                <a:schemeClr val="dk2"/>
              </a:solidFill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1027106" y="2074300"/>
            <a:ext cx="9152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과정 및 결과 : 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marR="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○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단순 데이터 추가 시 : 0.405 =&gt; 0.446 (미미한 증가)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marR="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○"/>
            </a:pPr>
            <a:r>
              <a:rPr lang="en-US" sz="1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데이터 전처리 후 </a:t>
            </a:r>
            <a:r>
              <a:rPr lang="en-US" sz="1200" b="1">
                <a:solidFill>
                  <a:schemeClr val="dk1"/>
                </a:solidFill>
              </a:rPr>
              <a:t>(Bbox 이상치 제거 및 </a:t>
            </a:r>
            <a:r>
              <a:rPr lang="en-US" sz="12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drug_N</a:t>
            </a:r>
            <a:r>
              <a:rPr lang="en-US" sz="1200" b="1">
                <a:solidFill>
                  <a:schemeClr val="dk1"/>
                </a:solidFill>
              </a:rPr>
              <a:t> 기반 ID 정제): 0.446 ➔ 0.613 (약 37% 수직 상승)</a:t>
            </a:r>
            <a:endParaRPr sz="12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914400" y="6124500"/>
            <a:ext cx="1143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chemeClr val="dk2"/>
                </a:solidFill>
              </a:rPr>
              <a:t>모델의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크기나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버전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변경보다</a:t>
            </a:r>
            <a:r>
              <a:rPr lang="en-US" sz="1800" b="1" u="sng" dirty="0">
                <a:solidFill>
                  <a:schemeClr val="dk2"/>
                </a:solidFill>
              </a:rPr>
              <a:t>, </a:t>
            </a:r>
            <a:r>
              <a:rPr lang="en-US" sz="1800" b="1" u="sng" dirty="0" err="1">
                <a:solidFill>
                  <a:schemeClr val="dk2"/>
                </a:solidFill>
              </a:rPr>
              <a:t>EDA를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통한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깔끔한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데이터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전처리가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성능을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결정짓는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가장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핵심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요소임을</a:t>
            </a:r>
            <a:r>
              <a:rPr lang="en-US" sz="1800" b="1" u="sng" dirty="0">
                <a:solidFill>
                  <a:schemeClr val="dk2"/>
                </a:solidFill>
              </a:rPr>
              <a:t> </a:t>
            </a:r>
            <a:r>
              <a:rPr lang="en-US" sz="1800" b="1" u="sng" dirty="0" err="1">
                <a:solidFill>
                  <a:schemeClr val="dk2"/>
                </a:solidFill>
              </a:rPr>
              <a:t>증명</a:t>
            </a:r>
            <a:endParaRPr sz="1800" b="1" u="sng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/>
        </p:nvSpPr>
        <p:spPr>
          <a:xfrm>
            <a:off x="914400" y="914400"/>
            <a:ext cx="1161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3 - yolo11 모델 크기 변경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1034900" y="1585200"/>
            <a:ext cx="1143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앞선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실험에서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처럼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크기를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변경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했을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때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효과가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dirty="0" err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있을까</a:t>
            </a:r>
            <a:r>
              <a:rPr lang="en-US" sz="1800" b="1" dirty="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? </a:t>
            </a:r>
            <a:endParaRPr sz="1800" b="1" dirty="0">
              <a:solidFill>
                <a:schemeClr val="dk2"/>
              </a:solidFill>
            </a:endParaRPr>
          </a:p>
        </p:txBody>
      </p:sp>
      <p:graphicFrame>
        <p:nvGraphicFramePr>
          <p:cNvPr id="227" name="Google Shape;227;p24"/>
          <p:cNvGraphicFramePr/>
          <p:nvPr/>
        </p:nvGraphicFramePr>
        <p:xfrm>
          <a:off x="952500" y="2286000"/>
          <a:ext cx="4592550" cy="1188630"/>
        </p:xfrm>
        <a:graphic>
          <a:graphicData uri="http://schemas.openxmlformats.org/drawingml/2006/table">
            <a:tbl>
              <a:tblPr>
                <a:noFill/>
                <a:tableStyleId>{E51176D2-A62D-412C-88D4-E07ADD69E8C3}</a:tableStyleId>
              </a:tblPr>
              <a:tblGrid>
                <a:gridCol w="151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모델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Kaggle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차이 (n 기준)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yolo11n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0.61383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yolo11l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0.61350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B91C1C"/>
                          </a:solidFill>
                        </a:rPr>
                        <a:t>-0.00033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8" name="Chart 2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378959"/>
              </p:ext>
            </p:extLst>
          </p:nvPr>
        </p:nvGraphicFramePr>
        <p:xfrm>
          <a:off x="950976" y="3794670"/>
          <a:ext cx="4590288" cy="2606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9" name="Rounded Rectangle 228"/>
          <p:cNvSpPr/>
          <p:nvPr/>
        </p:nvSpPr>
        <p:spPr>
          <a:xfrm>
            <a:off x="5989320" y="2286000"/>
            <a:ext cx="5285232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0F172A"/>
                </a:solidFill>
                <a:latin typeface="Noto Sans KR"/>
              </a:rPr>
              <a:t>적용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전 —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크기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차이가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변별력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있음</a:t>
            </a:r>
            <a:endParaRPr sz="1500" b="1" dirty="0">
              <a:solidFill>
                <a:srgbClr val="0F172A"/>
              </a:solidFill>
              <a:latin typeface="Noto Sans KR"/>
            </a:endParaRPr>
          </a:p>
          <a:p>
            <a:pPr algn="l"/>
            <a:r>
              <a:rPr sz="1250" b="0" dirty="0" err="1">
                <a:solidFill>
                  <a:srgbClr val="334155"/>
                </a:solidFill>
                <a:latin typeface="Noto Sans KR"/>
              </a:rPr>
              <a:t>클래스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56개,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정보가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제한적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→ 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큰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모델이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더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정교하게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학습할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여지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가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있어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l이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n보다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높음</a:t>
            </a:r>
            <a:endParaRPr sz="1250" b="0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230" name="Rounded Rectangle 229"/>
          <p:cNvSpPr/>
          <p:nvPr/>
        </p:nvSpPr>
        <p:spPr>
          <a:xfrm>
            <a:off x="5989320" y="3611880"/>
            <a:ext cx="5285232" cy="1234440"/>
          </a:xfrm>
          <a:prstGeom prst="roundRect">
            <a:avLst>
              <a:gd name="adj" fmla="val 6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Noto Sans KR"/>
              </a:rPr>
              <a:t>적용 후 — 크기 차이가 무의미해짐</a:t>
            </a:r>
          </a:p>
          <a:p>
            <a:pPr algn="l"/>
            <a:r>
              <a:rPr sz="1250" b="0">
                <a:solidFill>
                  <a:srgbClr val="334155"/>
                </a:solidFill>
                <a:latin typeface="Noto Sans KR"/>
              </a:rPr>
              <a:t>이미지·클래스 충분히 확보 → </a:t>
            </a:r>
            <a:r>
              <a:rPr sz="1250" b="1">
                <a:solidFill>
                  <a:srgbClr val="0F172A"/>
                </a:solidFill>
                <a:latin typeface="Noto Sans KR"/>
              </a:rPr>
              <a:t>작은 모델(n)도 충분히 일반화</a:t>
            </a:r>
            <a:r>
              <a:rPr sz="1250" b="0">
                <a:solidFill>
                  <a:srgbClr val="334155"/>
                </a:solidFill>
                <a:latin typeface="Noto Sans KR"/>
              </a:rPr>
              <a:t> 가능 → 모델을 키워도 추가로 얻을 정보가 거의 없음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989320" y="5074920"/>
            <a:ext cx="5285232" cy="1325879"/>
          </a:xfrm>
          <a:prstGeom prst="roundRect">
            <a:avLst>
              <a:gd name="adj" fmla="val 6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결론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1250" b="0">
                <a:solidFill>
                  <a:srgbClr val="FFFFFF"/>
                </a:solidFill>
                <a:latin typeface="Noto Sans KR"/>
              </a:rPr>
              <a:t>데이터가 충분해지면 모델 성능이 </a:t>
            </a:r>
            <a:r>
              <a:rPr sz="1250" b="1">
                <a:solidFill>
                  <a:srgbClr val="FFD166"/>
                </a:solidFill>
                <a:latin typeface="Noto Sans KR"/>
              </a:rPr>
              <a:t>수렴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1250" b="0">
                <a:solidFill>
                  <a:srgbClr val="FFFFFF"/>
                </a:solidFill>
                <a:latin typeface="Noto Sans KR"/>
              </a:rPr>
              <a:t>현재 데이터·전처리 수준에서는 지금 Score가 </a:t>
            </a:r>
            <a:r>
              <a:rPr sz="1250" b="1">
                <a:solidFill>
                  <a:srgbClr val="FFD166"/>
                </a:solidFill>
                <a:latin typeface="Noto Sans KR"/>
              </a:rPr>
              <a:t>한계</a:t>
            </a:r>
            <a:r>
              <a:rPr sz="1250" b="0">
                <a:solidFill>
                  <a:srgbClr val="FFFFFF"/>
                </a:solidFill>
                <a:latin typeface="Noto Sans KR"/>
              </a:rPr>
              <a:t>일 수 있음</a:t>
            </a:r>
          </a:p>
          <a:p>
            <a:pPr marL="228600" indent="-228600" algn="l">
              <a:buChar char="•"/>
            </a:pPr>
            <a:r>
              <a:rPr sz="1250" b="0">
                <a:solidFill>
                  <a:srgbClr val="FFFFFF"/>
                </a:solidFill>
                <a:latin typeface="Noto Sans KR"/>
              </a:rPr>
              <a:t>모델을 키우기보다 가볍고 빠른 </a:t>
            </a:r>
            <a:r>
              <a:rPr sz="1250" b="1">
                <a:solidFill>
                  <a:srgbClr val="FFD166"/>
                </a:solidFill>
                <a:latin typeface="Noto Sans KR"/>
              </a:rPr>
              <a:t>yolo11n 사용이 효율적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1AA010-541E-72D0-EAA5-B629595B1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78" y="3791485"/>
            <a:ext cx="4590686" cy="2609314"/>
          </a:xfrm>
          <a:prstGeom prst="rect">
            <a:avLst/>
          </a:prstGeom>
          <a:solidFill>
            <a:srgbClr val="F8FAFC"/>
          </a:solidFill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dirty="0" err="1">
                <a:solidFill>
                  <a:srgbClr val="0F172A"/>
                </a:solidFill>
                <a:latin typeface="Noto Sans KR"/>
              </a:rPr>
              <a:t>실험</a:t>
            </a:r>
            <a:r>
              <a:rPr sz="3600" b="1" dirty="0">
                <a:solidFill>
                  <a:srgbClr val="0F172A"/>
                </a:solidFill>
                <a:latin typeface="Noto Sans KR"/>
              </a:rPr>
              <a:t> 4 - Yolo11 vs Faster R-CNN </a:t>
            </a:r>
            <a:r>
              <a:rPr sz="3600" b="1" dirty="0" err="1">
                <a:solidFill>
                  <a:srgbClr val="0F172A"/>
                </a:solidFill>
                <a:latin typeface="Noto Sans KR"/>
              </a:rPr>
              <a:t>비교</a:t>
            </a:r>
            <a:endParaRPr sz="36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5819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1F497D"/>
                </a:solidFill>
                <a:latin typeface="Noto Sans KR"/>
              </a:rPr>
              <a:t>‘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동일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조건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비교’라는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실험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설정에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대한</a:t>
            </a:r>
            <a:r>
              <a:rPr sz="1800" b="1" dirty="0">
                <a:solidFill>
                  <a:srgbClr val="1F497D"/>
                </a:solidFill>
                <a:latin typeface="Noto Sans KR"/>
              </a:rPr>
              <a:t> </a:t>
            </a:r>
            <a:r>
              <a:rPr sz="1800" b="1" dirty="0" err="1">
                <a:solidFill>
                  <a:srgbClr val="1F497D"/>
                </a:solidFill>
                <a:latin typeface="Noto Sans KR"/>
              </a:rPr>
              <a:t>회고</a:t>
            </a:r>
            <a:endParaRPr sz="1800" b="1" dirty="0">
              <a:solidFill>
                <a:srgbClr val="1F497D"/>
              </a:solidFill>
              <a:latin typeface="Noto Sans K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2240280"/>
            <a:ext cx="3246120" cy="1920240"/>
          </a:xfrm>
          <a:prstGeom prst="roundRect">
            <a:avLst>
              <a:gd name="adj" fmla="val 7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Noto Sans KR"/>
              </a:rPr>
              <a:t>Faster R-CNN</a:t>
            </a:r>
          </a:p>
          <a:p>
            <a:pPr algn="ctr"/>
            <a:r>
              <a:rPr sz="3600" b="1" dirty="0">
                <a:solidFill>
                  <a:srgbClr val="FFD166"/>
                </a:solidFill>
                <a:latin typeface="Noto Sans KR"/>
              </a:rPr>
              <a:t>0.24205</a:t>
            </a:r>
          </a:p>
          <a:p>
            <a:pPr algn="ctr"/>
            <a:r>
              <a:rPr sz="1100" b="0" dirty="0">
                <a:solidFill>
                  <a:srgbClr val="FFFFFF"/>
                </a:solidFill>
                <a:latin typeface="Noto Sans KR"/>
              </a:rPr>
              <a:t>Kaggle Score · AI HUB </a:t>
            </a:r>
            <a:r>
              <a:rPr sz="1100" b="0" dirty="0" err="1">
                <a:solidFill>
                  <a:srgbClr val="FFFFFF"/>
                </a:solidFill>
                <a:latin typeface="Noto Sans KR"/>
              </a:rPr>
              <a:t>데이터</a:t>
            </a:r>
            <a:r>
              <a:rPr sz="11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Noto Sans KR"/>
              </a:rPr>
              <a:t>미적용</a:t>
            </a:r>
            <a:endParaRPr sz="1100" b="0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4434840"/>
            <a:ext cx="3246120" cy="1920240"/>
          </a:xfrm>
          <a:prstGeom prst="roundRect">
            <a:avLst>
              <a:gd name="adj" fmla="val 7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/>
            <a:r>
              <a:rPr sz="1400" b="1" dirty="0">
                <a:solidFill>
                  <a:srgbClr val="334155"/>
                </a:solidFill>
                <a:latin typeface="Noto Sans KR"/>
              </a:rPr>
              <a:t>yolo</a:t>
            </a:r>
            <a:r>
              <a:rPr lang="en-US" sz="1400" b="1" dirty="0">
                <a:solidFill>
                  <a:srgbClr val="334155"/>
                </a:solidFill>
                <a:latin typeface="Noto Sans KR"/>
              </a:rPr>
              <a:t>v8n</a:t>
            </a:r>
            <a:r>
              <a:rPr sz="1400" b="1" dirty="0">
                <a:solidFill>
                  <a:srgbClr val="334155"/>
                </a:solidFill>
                <a:latin typeface="Noto Sans KR"/>
              </a:rPr>
              <a:t> (</a:t>
            </a:r>
            <a:r>
              <a:rPr sz="1400" b="1" dirty="0" err="1">
                <a:solidFill>
                  <a:srgbClr val="334155"/>
                </a:solidFill>
                <a:latin typeface="Noto Sans KR"/>
              </a:rPr>
              <a:t>참고</a:t>
            </a:r>
            <a:r>
              <a:rPr sz="1400" b="1" dirty="0">
                <a:solidFill>
                  <a:srgbClr val="334155"/>
                </a:solidFill>
                <a:latin typeface="Noto Sans KR"/>
              </a:rPr>
              <a:t>)</a:t>
            </a:r>
          </a:p>
          <a:p>
            <a:pPr algn="ctr"/>
            <a:r>
              <a:rPr sz="3600" b="1" dirty="0">
                <a:solidFill>
                  <a:srgbClr val="2878D8"/>
                </a:solidFill>
                <a:latin typeface="Noto Sans KR"/>
              </a:rPr>
              <a:t>0.</a:t>
            </a:r>
            <a:r>
              <a:rPr lang="en-US" sz="3600" b="1" dirty="0">
                <a:solidFill>
                  <a:srgbClr val="2878D8"/>
                </a:solidFill>
                <a:latin typeface="Noto Sans KR"/>
              </a:rPr>
              <a:t>3985</a:t>
            </a:r>
            <a:endParaRPr sz="3600" b="1" dirty="0">
              <a:solidFill>
                <a:srgbClr val="2878D8"/>
              </a:solidFill>
              <a:latin typeface="Noto Sans KR"/>
            </a:endParaRPr>
          </a:p>
          <a:p>
            <a:pPr algn="ctr"/>
            <a:r>
              <a:rPr sz="1100" b="0" dirty="0">
                <a:solidFill>
                  <a:srgbClr val="334155"/>
                </a:solidFill>
                <a:latin typeface="Noto Sans KR"/>
              </a:rPr>
              <a:t>Kaggle Score · AI HUB </a:t>
            </a:r>
            <a:r>
              <a:rPr sz="1100" b="0" dirty="0" err="1">
                <a:solidFill>
                  <a:srgbClr val="334155"/>
                </a:solidFill>
                <a:latin typeface="Noto Sans KR"/>
              </a:rPr>
              <a:t>데이터</a:t>
            </a:r>
            <a:r>
              <a:rPr sz="110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Noto Sans KR"/>
              </a:rPr>
              <a:t>미적용</a:t>
            </a:r>
            <a:endParaRPr sz="1100" b="0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26280" y="2240280"/>
            <a:ext cx="6748272" cy="10972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109728" rIns="182880" bIns="109728" rtlCol="0" anchor="ctr"/>
          <a:lstStyle/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0F172A"/>
                </a:solidFill>
                <a:latin typeface="Noto Sans KR"/>
              </a:rPr>
              <a:t>모델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구조가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근본적으로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다름</a:t>
            </a:r>
            <a:endParaRPr sz="1500" b="1" dirty="0">
              <a:solidFill>
                <a:srgbClr val="0F172A"/>
              </a:solidFill>
              <a:latin typeface="Noto Sans KR"/>
            </a:endParaRPr>
          </a:p>
          <a:p>
            <a:pPr marL="200000" indent="-200000" algn="l">
              <a:buChar char="•"/>
            </a:pPr>
            <a:r>
              <a:rPr sz="1250" b="0" dirty="0" err="1">
                <a:solidFill>
                  <a:srgbClr val="334155"/>
                </a:solidFill>
                <a:latin typeface="Noto Sans KR"/>
              </a:rPr>
              <a:t>구조가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다르므로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적합한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334155"/>
                </a:solidFill>
                <a:latin typeface="Noto Sans KR"/>
              </a:rPr>
              <a:t>입력</a:t>
            </a:r>
            <a:r>
              <a:rPr sz="1250" b="1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334155"/>
                </a:solidFill>
                <a:latin typeface="Noto Sans KR"/>
              </a:rPr>
              <a:t>크기·학습률·데이터</a:t>
            </a:r>
            <a:r>
              <a:rPr sz="1250" b="1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334155"/>
                </a:solidFill>
                <a:latin typeface="Noto Sans KR"/>
              </a:rPr>
              <a:t>증강·에폭</a:t>
            </a:r>
            <a:r>
              <a:rPr sz="1250" b="1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334155"/>
                </a:solidFill>
                <a:latin typeface="Noto Sans KR"/>
              </a:rPr>
              <a:t>수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도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서로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다름</a:t>
            </a:r>
            <a:endParaRPr sz="1250" b="0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7" name="Oval 6"/>
          <p:cNvSpPr/>
          <p:nvPr/>
        </p:nvSpPr>
        <p:spPr>
          <a:xfrm>
            <a:off x="4754880" y="2532888"/>
            <a:ext cx="512064" cy="512064"/>
          </a:xfrm>
          <a:prstGeom prst="ellipse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520440"/>
            <a:ext cx="6748272" cy="1554480"/>
          </a:xfrm>
          <a:prstGeom prst="roundRect">
            <a:avLst>
              <a:gd name="adj" fmla="val 7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109728" rIns="182880" bIns="109728" rtlCol="0" anchor="ctr"/>
          <a:lstStyle/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0F172A"/>
                </a:solidFill>
                <a:latin typeface="Noto Sans KR"/>
              </a:rPr>
              <a:t>완전히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동일한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조건을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만드는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것이</a:t>
            </a:r>
            <a:r>
              <a:rPr sz="15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Noto Sans KR"/>
              </a:rPr>
              <a:t>불가능</a:t>
            </a:r>
            <a:endParaRPr sz="1500" b="1" dirty="0">
              <a:solidFill>
                <a:srgbClr val="0F172A"/>
              </a:solidFill>
              <a:latin typeface="Noto Sans KR"/>
            </a:endParaRPr>
          </a:p>
          <a:p>
            <a:pPr marL="200000" indent="-200000" algn="l">
              <a:spcAft>
                <a:spcPts val="200"/>
              </a:spcAft>
              <a:buChar char="•"/>
            </a:pPr>
            <a:r>
              <a:rPr sz="1250" b="0" dirty="0" err="1">
                <a:solidFill>
                  <a:srgbClr val="334155"/>
                </a:solidFill>
                <a:latin typeface="Noto Sans KR"/>
              </a:rPr>
              <a:t>프레임워크마다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기본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설정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,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증강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파이프라인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,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손실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함수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,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옵티마이저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구성이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다름</a:t>
            </a:r>
            <a:endParaRPr sz="1250" b="0" dirty="0">
              <a:solidFill>
                <a:srgbClr val="334155"/>
              </a:solidFill>
              <a:latin typeface="Noto Sans KR"/>
            </a:endParaRPr>
          </a:p>
          <a:p>
            <a:pPr marL="200000" indent="-200000" algn="l">
              <a:buChar char="•"/>
            </a:pPr>
            <a:r>
              <a:rPr sz="1250" b="0" dirty="0" err="1">
                <a:solidFill>
                  <a:srgbClr val="334155"/>
                </a:solidFill>
                <a:latin typeface="Noto Sans KR"/>
              </a:rPr>
              <a:t>하이퍼파라미터를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억지로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맞추면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334155"/>
                </a:solidFill>
                <a:latin typeface="Noto Sans KR"/>
              </a:rPr>
              <a:t>한쪽</a:t>
            </a:r>
            <a:r>
              <a:rPr sz="1250" b="1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334155"/>
                </a:solidFill>
                <a:latin typeface="Noto Sans KR"/>
              </a:rPr>
              <a:t>모델에</a:t>
            </a:r>
            <a:r>
              <a:rPr sz="1250" b="1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334155"/>
                </a:solidFill>
                <a:latin typeface="Noto Sans KR"/>
              </a:rPr>
              <a:t>불리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해져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공정한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비교가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되지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않음</a:t>
            </a:r>
            <a:endParaRPr sz="1250" b="0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9" name="Oval 8"/>
          <p:cNvSpPr/>
          <p:nvPr/>
        </p:nvSpPr>
        <p:spPr>
          <a:xfrm>
            <a:off x="4754880" y="4041648"/>
            <a:ext cx="512064" cy="512064"/>
          </a:xfrm>
          <a:prstGeom prst="ellipse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5257800"/>
            <a:ext cx="6748272" cy="1143000"/>
          </a:xfrm>
          <a:prstGeom prst="roundRect">
            <a:avLst>
              <a:gd name="adj" fmla="val 7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109728" rIns="182880" bIns="109728" rtlCol="0" anchor="ctr"/>
          <a:lstStyle/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FFFFFF"/>
                </a:solidFill>
                <a:latin typeface="Noto Sans KR"/>
              </a:rPr>
              <a:t>올바른</a:t>
            </a:r>
            <a:r>
              <a:rPr sz="15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Noto Sans KR"/>
              </a:rPr>
              <a:t>비교</a:t>
            </a:r>
            <a:r>
              <a:rPr sz="15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Noto Sans KR"/>
              </a:rPr>
              <a:t>방향</a:t>
            </a:r>
            <a:endParaRPr sz="1500" b="1" dirty="0">
              <a:solidFill>
                <a:srgbClr val="FFFFFF"/>
              </a:solidFill>
              <a:latin typeface="Noto Sans KR"/>
            </a:endParaRPr>
          </a:p>
          <a:p>
            <a:pPr marL="200000" indent="-200000" algn="l">
              <a:buChar char="•"/>
            </a:pPr>
            <a:r>
              <a:rPr sz="1250" b="0" dirty="0" err="1">
                <a:solidFill>
                  <a:srgbClr val="FFFFFF"/>
                </a:solidFill>
                <a:latin typeface="Noto Sans KR"/>
              </a:rPr>
              <a:t>동일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Noto Sans KR"/>
              </a:rPr>
              <a:t>조건이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Noto Sans KR"/>
              </a:rPr>
              <a:t>아니라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1" dirty="0">
                <a:solidFill>
                  <a:srgbClr val="FFFFFF"/>
                </a:solidFill>
                <a:latin typeface="Noto Sans KR"/>
              </a:rPr>
              <a:t>각 </a:t>
            </a:r>
            <a:r>
              <a:rPr sz="1250" b="1" dirty="0" err="1">
                <a:solidFill>
                  <a:srgbClr val="FFFFFF"/>
                </a:solidFill>
                <a:latin typeface="Noto Sans KR"/>
              </a:rPr>
              <a:t>모델을</a:t>
            </a:r>
            <a:r>
              <a:rPr sz="125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Noto Sans KR"/>
              </a:rPr>
              <a:t>충분히</a:t>
            </a:r>
            <a:r>
              <a:rPr sz="125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Noto Sans KR"/>
              </a:rPr>
              <a:t>튜닝했을</a:t>
            </a:r>
            <a:r>
              <a:rPr sz="125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Noto Sans KR"/>
              </a:rPr>
              <a:t>때의</a:t>
            </a:r>
            <a:r>
              <a:rPr sz="125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Noto Sans KR"/>
              </a:rPr>
              <a:t>최종</a:t>
            </a:r>
            <a:r>
              <a:rPr sz="125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Noto Sans KR"/>
              </a:rPr>
              <a:t>성능</a:t>
            </a:r>
            <a:r>
              <a:rPr sz="1250" b="0" dirty="0" err="1">
                <a:solidFill>
                  <a:srgbClr val="FFFFFF"/>
                </a:solidFill>
                <a:latin typeface="Noto Sans KR"/>
              </a:rPr>
              <a:t>을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Noto Sans KR"/>
              </a:rPr>
              <a:t>비교</a:t>
            </a:r>
            <a:endParaRPr sz="1250" b="0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54880" y="5573268"/>
            <a:ext cx="512064" cy="512064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dirty="0">
                <a:solidFill>
                  <a:srgbClr val="1F3B66"/>
                </a:solidFill>
                <a:latin typeface="Noto Sans KR"/>
              </a:rPr>
              <a:t>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KR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819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497D"/>
                </a:solidFill>
                <a:latin typeface="Noto Sans KR"/>
              </a:rPr>
              <a:t>실험 1~4를 통해 확인한 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095292"/>
              </p:ext>
            </p:extLst>
          </p:nvPr>
        </p:nvGraphicFramePr>
        <p:xfrm>
          <a:off x="914400" y="2240280"/>
          <a:ext cx="4572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852160" y="2240280"/>
            <a:ext cx="5422392" cy="65836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0" tIns="54864" rIns="164592" bIns="54864" rtlCol="0" anchor="ctr"/>
          <a:lstStyle/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1F3B66"/>
                </a:solidFill>
                <a:latin typeface="Noto Sans KR"/>
              </a:rPr>
              <a:t>모델</a:t>
            </a:r>
            <a:r>
              <a:rPr sz="1200" b="1" dirty="0">
                <a:solidFill>
                  <a:srgbClr val="1F3B66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F3B66"/>
                </a:solidFill>
                <a:latin typeface="Noto Sans KR"/>
              </a:rPr>
              <a:t>버전·크기</a:t>
            </a:r>
            <a:endParaRPr sz="1200" b="1" dirty="0">
              <a:solidFill>
                <a:srgbClr val="1F3B66"/>
              </a:solidFill>
              <a:latin typeface="Noto Sans KR"/>
            </a:endParaRPr>
          </a:p>
          <a:p>
            <a:pPr algn="l"/>
            <a:r>
              <a:rPr sz="1250" b="0" dirty="0" err="1">
                <a:solidFill>
                  <a:srgbClr val="334155"/>
                </a:solidFill>
                <a:latin typeface="Noto Sans KR"/>
              </a:rPr>
              <a:t>크고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최신인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모델이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항상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좋지는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않음</a:t>
            </a:r>
            <a:endParaRPr sz="125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16752" y="2386584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Noto Sans KR"/>
              </a:rPr>
              <a:t>실험</a:t>
            </a:r>
            <a:r>
              <a:rPr sz="1200" b="1" dirty="0">
                <a:solidFill>
                  <a:srgbClr val="FFFFFF"/>
                </a:solidFill>
                <a:latin typeface="Noto Sans KR"/>
              </a:rPr>
              <a:t>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008376"/>
            <a:ext cx="5422392" cy="65836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0" tIns="54864" rIns="164592" bIns="54864" rtlCol="0" anchor="ctr"/>
          <a:lstStyle/>
          <a:p>
            <a:pPr algn="l">
              <a:spcAft>
                <a:spcPts val="100"/>
              </a:spcAft>
            </a:pPr>
            <a:r>
              <a:rPr sz="1200" b="1" dirty="0">
                <a:solidFill>
                  <a:srgbClr val="1F3B66"/>
                </a:solidFill>
                <a:latin typeface="Noto Sans KR"/>
              </a:rPr>
              <a:t>AI HUB </a:t>
            </a:r>
            <a:r>
              <a:rPr sz="1200" b="1" dirty="0" err="1">
                <a:solidFill>
                  <a:srgbClr val="1F3B66"/>
                </a:solidFill>
                <a:latin typeface="Noto Sans KR"/>
              </a:rPr>
              <a:t>데이터·전처리</a:t>
            </a:r>
            <a:endParaRPr sz="1200" b="1" dirty="0">
              <a:solidFill>
                <a:srgbClr val="1F3B66"/>
              </a:solidFill>
              <a:latin typeface="Noto Sans KR"/>
            </a:endParaRPr>
          </a:p>
          <a:p>
            <a:pPr algn="l"/>
            <a:r>
              <a:rPr sz="1250" b="0" dirty="0" err="1">
                <a:solidFill>
                  <a:srgbClr val="334155"/>
                </a:solidFill>
                <a:latin typeface="Noto Sans KR"/>
              </a:rPr>
              <a:t>전처리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후 0.405 → 0.613,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가장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큰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성능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향상</a:t>
            </a:r>
            <a:endParaRPr sz="125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16752" y="3154680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Noto Sans KR"/>
              </a:rPr>
              <a:t>실험</a:t>
            </a:r>
            <a:r>
              <a:rPr sz="1200" b="1" dirty="0">
                <a:solidFill>
                  <a:srgbClr val="FFFFFF"/>
                </a:solidFill>
                <a:latin typeface="Noto Sans KR"/>
              </a:rPr>
              <a:t>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776472"/>
            <a:ext cx="5422392" cy="65836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0" tIns="54864" rIns="164592" bIns="54864" rtlCol="0" anchor="ctr"/>
          <a:lstStyle/>
          <a:p>
            <a:pPr algn="l">
              <a:spcAft>
                <a:spcPts val="100"/>
              </a:spcAft>
            </a:pPr>
            <a:r>
              <a:rPr sz="1200" b="1" dirty="0">
                <a:solidFill>
                  <a:srgbClr val="1F3B66"/>
                </a:solidFill>
                <a:latin typeface="Noto Sans KR"/>
              </a:rPr>
              <a:t>yolo11 </a:t>
            </a:r>
            <a:r>
              <a:rPr sz="1200" b="1" dirty="0" err="1">
                <a:solidFill>
                  <a:srgbClr val="1F3B66"/>
                </a:solidFill>
                <a:latin typeface="Noto Sans KR"/>
              </a:rPr>
              <a:t>모델</a:t>
            </a:r>
            <a:r>
              <a:rPr sz="1200" b="1" dirty="0">
                <a:solidFill>
                  <a:srgbClr val="1F3B66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F3B66"/>
                </a:solidFill>
                <a:latin typeface="Noto Sans KR"/>
              </a:rPr>
              <a:t>크기</a:t>
            </a:r>
            <a:endParaRPr sz="1200" b="1" dirty="0">
              <a:solidFill>
                <a:srgbClr val="1F3B66"/>
              </a:solidFill>
              <a:latin typeface="Noto Sans KR"/>
            </a:endParaRPr>
          </a:p>
          <a:p>
            <a:pPr algn="l"/>
            <a:r>
              <a:rPr sz="1250" b="0" dirty="0" err="1">
                <a:solidFill>
                  <a:srgbClr val="334155"/>
                </a:solidFill>
                <a:latin typeface="Noto Sans KR"/>
              </a:rPr>
              <a:t>데이터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확보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후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n·l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성능이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수렴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(0.61383 vs 0.61350)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6752" y="3922776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실험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4544568"/>
            <a:ext cx="5422392" cy="65836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0" tIns="54864" rIns="164592" bIns="54864" rtlCol="0" anchor="ctr"/>
          <a:lstStyle/>
          <a:p>
            <a:pPr algn="l">
              <a:spcAft>
                <a:spcPts val="100"/>
              </a:spcAft>
            </a:pPr>
            <a:r>
              <a:rPr sz="1200" b="1" dirty="0">
                <a:solidFill>
                  <a:srgbClr val="1F3B66"/>
                </a:solidFill>
                <a:latin typeface="Noto Sans KR"/>
              </a:rPr>
              <a:t>Faster R-CNN </a:t>
            </a:r>
            <a:r>
              <a:rPr sz="1200" b="1" dirty="0" err="1">
                <a:solidFill>
                  <a:srgbClr val="1F3B66"/>
                </a:solidFill>
                <a:latin typeface="Noto Sans KR"/>
              </a:rPr>
              <a:t>비교</a:t>
            </a:r>
            <a:endParaRPr sz="1200" b="1" dirty="0">
              <a:solidFill>
                <a:srgbClr val="1F3B66"/>
              </a:solidFill>
              <a:latin typeface="Noto Sans KR"/>
            </a:endParaRPr>
          </a:p>
          <a:p>
            <a:pPr algn="l"/>
            <a:r>
              <a:rPr sz="1250" b="0" dirty="0" err="1">
                <a:solidFill>
                  <a:srgbClr val="334155"/>
                </a:solidFill>
                <a:latin typeface="Noto Sans KR"/>
              </a:rPr>
              <a:t>동일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조건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비교는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부적절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→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모델별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튜닝</a:t>
            </a:r>
            <a:r>
              <a:rPr sz="1250" b="1" dirty="0">
                <a:solidFill>
                  <a:srgbClr val="0F172A"/>
                </a:solidFill>
                <a:latin typeface="Noto Sans KR"/>
              </a:rPr>
              <a:t> 후 </a:t>
            </a:r>
            <a:r>
              <a:rPr sz="1250" b="1" dirty="0" err="1">
                <a:solidFill>
                  <a:srgbClr val="0F172A"/>
                </a:solidFill>
                <a:latin typeface="Noto Sans KR"/>
              </a:rPr>
              <a:t>비교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가</a:t>
            </a:r>
            <a:r>
              <a:rPr sz="1250" b="0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334155"/>
                </a:solidFill>
                <a:latin typeface="Noto Sans KR"/>
              </a:rPr>
              <a:t>타당</a:t>
            </a:r>
            <a:endParaRPr sz="1250" b="0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16752" y="4690872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실험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5376672"/>
            <a:ext cx="5422392" cy="1024127"/>
          </a:xfrm>
          <a:prstGeom prst="roundRect">
            <a:avLst>
              <a:gd name="adj" fmla="val 8000"/>
            </a:avLst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400"/>
              </a:spcAft>
            </a:pPr>
            <a:r>
              <a:rPr sz="1500" b="0" dirty="0" err="1">
                <a:solidFill>
                  <a:srgbClr val="FFFFFF"/>
                </a:solidFill>
                <a:latin typeface="Noto Sans KR"/>
              </a:rPr>
              <a:t>성능을</a:t>
            </a:r>
            <a:r>
              <a:rPr sz="15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Noto Sans KR"/>
              </a:rPr>
              <a:t>결정한</a:t>
            </a:r>
            <a:r>
              <a:rPr sz="15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Noto Sans KR"/>
              </a:rPr>
              <a:t>핵심은</a:t>
            </a:r>
            <a:r>
              <a:rPr sz="15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Noto Sans KR"/>
              </a:rPr>
              <a:t>모델보다</a:t>
            </a:r>
            <a:r>
              <a:rPr sz="150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FFD166"/>
                </a:solidFill>
                <a:latin typeface="Noto Sans KR"/>
              </a:rPr>
              <a:t>데이터</a:t>
            </a:r>
            <a:r>
              <a:rPr sz="1500" b="1" dirty="0">
                <a:solidFill>
                  <a:srgbClr val="FFD166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FFD166"/>
                </a:solidFill>
                <a:latin typeface="Noto Sans KR"/>
              </a:rPr>
              <a:t>품질</a:t>
            </a:r>
            <a:r>
              <a:rPr sz="1500" b="1" dirty="0">
                <a:solidFill>
                  <a:srgbClr val="FFD166"/>
                </a:solidFill>
                <a:latin typeface="Noto Sans KR"/>
              </a:rPr>
              <a:t>(</a:t>
            </a:r>
            <a:r>
              <a:rPr sz="1500" b="1" dirty="0" err="1">
                <a:solidFill>
                  <a:srgbClr val="FFD166"/>
                </a:solidFill>
                <a:latin typeface="Noto Sans KR"/>
              </a:rPr>
              <a:t>전처리</a:t>
            </a:r>
            <a:r>
              <a:rPr sz="1500" b="1" dirty="0">
                <a:solidFill>
                  <a:srgbClr val="FFD166"/>
                </a:solidFill>
                <a:latin typeface="Noto Sans KR"/>
              </a:rPr>
              <a:t>)</a:t>
            </a:r>
          </a:p>
          <a:p>
            <a:pPr algn="l"/>
            <a:r>
              <a:rPr sz="1250" b="0" dirty="0" err="1">
                <a:solidFill>
                  <a:srgbClr val="FFFFFF"/>
                </a:solidFill>
                <a:latin typeface="Noto Sans KR"/>
              </a:rPr>
              <a:t>최종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Noto Sans KR"/>
              </a:rPr>
              <a:t>선택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: </a:t>
            </a:r>
            <a:r>
              <a:rPr sz="1250" b="1" dirty="0">
                <a:solidFill>
                  <a:srgbClr val="FFD166"/>
                </a:solidFill>
                <a:latin typeface="Noto Sans KR"/>
              </a:rPr>
              <a:t>yolo11n (0.61383)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 — 11l과 </a:t>
            </a:r>
            <a:r>
              <a:rPr sz="1250" b="0" dirty="0" err="1">
                <a:solidFill>
                  <a:srgbClr val="FFFFFF"/>
                </a:solidFill>
                <a:latin typeface="Noto Sans KR"/>
              </a:rPr>
              <a:t>동등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, 더 </a:t>
            </a:r>
            <a:r>
              <a:rPr sz="1250" b="0" dirty="0" err="1">
                <a:solidFill>
                  <a:srgbClr val="FFFFFF"/>
                </a:solidFill>
                <a:latin typeface="Noto Sans KR"/>
              </a:rPr>
              <a:t>가볍고</a:t>
            </a:r>
            <a:r>
              <a:rPr sz="1250" b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Noto Sans KR"/>
              </a:rPr>
              <a:t>빠름</a:t>
            </a:r>
            <a:endParaRPr sz="1250" b="0" dirty="0">
              <a:solidFill>
                <a:srgbClr val="FFFFFF"/>
              </a:solidFill>
              <a:latin typeface="Noto Sans KR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56BA022-053F-7CE0-FB8B-049338141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1624"/>
            <a:ext cx="4572396" cy="4157832"/>
          </a:xfrm>
          <a:prstGeom prst="rect">
            <a:avLst/>
          </a:prstGeom>
          <a:solidFill>
            <a:srgbClr val="F8FAFC"/>
          </a:solid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1788</Words>
  <Application>Microsoft Office PowerPoint</Application>
  <PresentationFormat>와이드스크린</PresentationFormat>
  <Paragraphs>329</Paragraphs>
  <Slides>19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Calibri</vt:lpstr>
      <vt:lpstr>Roboto Mono</vt:lpstr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DONGHYEONSEO</dc:creator>
  <cp:lastModifiedBy>DONGHYEONSEO</cp:lastModifiedBy>
  <cp:revision>18</cp:revision>
  <dcterms:modified xsi:type="dcterms:W3CDTF">2026-09-28T09:45:21Z</dcterms:modified>
</cp:coreProperties>
</file>